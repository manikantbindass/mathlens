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3aa02d733c40e3" /><Relationship Type="http://schemas.openxmlformats.org/officeDocument/2006/relationships/extended-properties" Target="/docProps/app.xml" Id="R90f79bfaa5184278" /><Relationship Type="http://schemas.openxmlformats.org/officeDocument/2006/relationships/officeDocument" Target="/ppt/presentation.xml" Id="Rb419c493e38a405b" /></Relationships>
</file>

<file path=ppt/presentation.xml><?xml version="1.0" encoding="utf-8"?>
<p:presentation xmlns:p="http://schemas.openxmlformats.org/presentationml/2006/main">
  <p:sldMasterIdLst>
    <p:sldMasterId xmlns:r="http://schemas.openxmlformats.org/officeDocument/2006/relationships" id="2147483648" r:id="R762db75b44fc4da5"/>
  </p:sldMasterIdLst>
  <p:notesMasterIdLst>
    <p:notesMasterId xmlns:r="http://schemas.openxmlformats.org/officeDocument/2006/relationships" r:id="Rb4e2b124621b4bca"/>
  </p:notesMasterIdLst>
  <p:sldIdLst>
    <p:sldId xmlns:r="http://schemas.openxmlformats.org/officeDocument/2006/relationships" id="256" r:id="Rec259ef61bf64a45"/>
    <p:sldId xmlns:r="http://schemas.openxmlformats.org/officeDocument/2006/relationships" id="257" r:id="R02735da371794dd5"/>
    <p:sldId xmlns:r="http://schemas.openxmlformats.org/officeDocument/2006/relationships" id="258" r:id="Rb137417cd3934ea1"/>
    <p:sldId xmlns:r="http://schemas.openxmlformats.org/officeDocument/2006/relationships" id="259" r:id="R71b5a8fd37ae4b07"/>
    <p:sldId xmlns:r="http://schemas.openxmlformats.org/officeDocument/2006/relationships" id="260" r:id="R0d421164dacc4898"/>
    <p:sldId xmlns:r="http://schemas.openxmlformats.org/officeDocument/2006/relationships" id="261" r:id="R9fc31a06a6cc4be7"/>
    <p:sldId xmlns:r="http://schemas.openxmlformats.org/officeDocument/2006/relationships" id="262" r:id="Rcace03cf599843d9"/>
    <p:sldId xmlns:r="http://schemas.openxmlformats.org/officeDocument/2006/relationships" id="263" r:id="Ree3d83b47c50487f"/>
    <p:sldId xmlns:r="http://schemas.openxmlformats.org/officeDocument/2006/relationships" id="264" r:id="R05c0fab8e09248ea"/>
    <p:sldId xmlns:r="http://schemas.openxmlformats.org/officeDocument/2006/relationships" id="265" r:id="R0ec2b9ad6bfc46cf"/>
    <p:sldId xmlns:r="http://schemas.openxmlformats.org/officeDocument/2006/relationships" id="266" r:id="R1b029ffeb5d648f4"/>
    <p:sldId xmlns:r="http://schemas.openxmlformats.org/officeDocument/2006/relationships" id="267" r:id="R6603231bfb704e2e"/>
    <p:sldId xmlns:r="http://schemas.openxmlformats.org/officeDocument/2006/relationships" id="268" r:id="R17d3df1c85cb4df0"/>
    <p:sldId xmlns:r="http://schemas.openxmlformats.org/officeDocument/2006/relationships" id="269" r:id="Rb39665332f6e4ab9"/>
    <p:sldId xmlns:r="http://schemas.openxmlformats.org/officeDocument/2006/relationships" id="270" r:id="R56b01b882d42437e"/>
    <p:sldId xmlns:r="http://schemas.openxmlformats.org/officeDocument/2006/relationships" id="271" r:id="R1488548e2e554348"/>
    <p:sldId xmlns:r="http://schemas.openxmlformats.org/officeDocument/2006/relationships" id="272" r:id="R40c9afc4b70f4875"/>
    <p:sldId xmlns:r="http://schemas.openxmlformats.org/officeDocument/2006/relationships" id="273" r:id="R0f19dd102c394a1f"/>
    <p:sldId xmlns:r="http://schemas.openxmlformats.org/officeDocument/2006/relationships" id="274" r:id="Rdf3919e30d1f438a"/>
    <p:sldId xmlns:r="http://schemas.openxmlformats.org/officeDocument/2006/relationships" id="275" r:id="R74c39e7a277146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06549465804bf5" /><Relationship Type="http://schemas.openxmlformats.org/officeDocument/2006/relationships/slideMaster" Target="/ppt/slideMasters/slideMaster1.xml" Id="R762db75b44fc4da5" /><Relationship Type="http://schemas.openxmlformats.org/officeDocument/2006/relationships/notesMaster" Target="/ppt/notesMasters/notesMaster1.xml" Id="Rb4e2b124621b4bca" /><Relationship Type="http://schemas.openxmlformats.org/officeDocument/2006/relationships/presProps" Target="/ppt/presProps.xml" Id="Rdbd4dec25f044469" /><Relationship Type="http://schemas.openxmlformats.org/officeDocument/2006/relationships/tableStyles" Target="/ppt/tableStyles.xml" Id="Re853d0c3f6f342ec" /><Relationship Type="http://schemas.openxmlformats.org/officeDocument/2006/relationships/slide" Target="/ppt/slides/slide1.xml" Id="Rec259ef61bf64a45" /><Relationship Type="http://schemas.openxmlformats.org/officeDocument/2006/relationships/slide" Target="/ppt/slides/slide2.xml" Id="R02735da371794dd5" /><Relationship Type="http://schemas.openxmlformats.org/officeDocument/2006/relationships/slide" Target="/ppt/slides/slide3.xml" Id="Rb137417cd3934ea1" /><Relationship Type="http://schemas.openxmlformats.org/officeDocument/2006/relationships/slide" Target="/ppt/slides/slide4.xml" Id="R71b5a8fd37ae4b07" /><Relationship Type="http://schemas.openxmlformats.org/officeDocument/2006/relationships/slide" Target="/ppt/slides/slide5.xml" Id="R0d421164dacc4898" /><Relationship Type="http://schemas.openxmlformats.org/officeDocument/2006/relationships/slide" Target="/ppt/slides/slide6.xml" Id="R9fc31a06a6cc4be7" /><Relationship Type="http://schemas.openxmlformats.org/officeDocument/2006/relationships/slide" Target="/ppt/slides/slide7.xml" Id="Rcace03cf599843d9" /><Relationship Type="http://schemas.openxmlformats.org/officeDocument/2006/relationships/slide" Target="/ppt/slides/slide8.xml" Id="Ree3d83b47c50487f" /><Relationship Type="http://schemas.openxmlformats.org/officeDocument/2006/relationships/slide" Target="/ppt/slides/slide9.xml" Id="R05c0fab8e09248ea" /><Relationship Type="http://schemas.openxmlformats.org/officeDocument/2006/relationships/slide" Target="/ppt/slides/slide10.xml" Id="R0ec2b9ad6bfc46cf" /><Relationship Type="http://schemas.openxmlformats.org/officeDocument/2006/relationships/slide" Target="/ppt/slides/slide11.xml" Id="R1b029ffeb5d648f4" /><Relationship Type="http://schemas.openxmlformats.org/officeDocument/2006/relationships/slide" Target="/ppt/slides/slide12.xml" Id="R6603231bfb704e2e" /><Relationship Type="http://schemas.openxmlformats.org/officeDocument/2006/relationships/slide" Target="/ppt/slides/slide13.xml" Id="R17d3df1c85cb4df0" /><Relationship Type="http://schemas.openxmlformats.org/officeDocument/2006/relationships/slide" Target="/ppt/slides/slide14.xml" Id="Rb39665332f6e4ab9" /><Relationship Type="http://schemas.openxmlformats.org/officeDocument/2006/relationships/slide" Target="/ppt/slides/slide15.xml" Id="R56b01b882d42437e" /><Relationship Type="http://schemas.openxmlformats.org/officeDocument/2006/relationships/slide" Target="/ppt/slides/slide16.xml" Id="R1488548e2e554348" /><Relationship Type="http://schemas.openxmlformats.org/officeDocument/2006/relationships/slide" Target="/ppt/slides/slide17.xml" Id="R40c9afc4b70f4875" /><Relationship Type="http://schemas.openxmlformats.org/officeDocument/2006/relationships/slide" Target="/ppt/slides/slide18.xml" Id="R0f19dd102c394a1f" /><Relationship Type="http://schemas.openxmlformats.org/officeDocument/2006/relationships/slide" Target="/ppt/slides/slide19.xml" Id="Rdf3919e30d1f438a" /><Relationship Type="http://schemas.openxmlformats.org/officeDocument/2006/relationships/slide" Target="/ppt/slides/slide20.xml" Id="R74c39e7a277146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0092ab2bf449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e0c87a320d4807" /><Relationship Type="http://schemas.openxmlformats.org/officeDocument/2006/relationships/notesMaster" Target="/ppt/notesMasters/notesMaster1.xml" Id="Re122d42b4a2b46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89cd4a36164629" /><Relationship Type="http://schemas.openxmlformats.org/officeDocument/2006/relationships/notesMaster" Target="/ppt/notesMasters/notesMaster1.xml" Id="R416cd8d5b4074a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2af19866e54721" /><Relationship Type="http://schemas.openxmlformats.org/officeDocument/2006/relationships/notesMaster" Target="/ppt/notesMasters/notesMaster1.xml" Id="Re5f5284ad0d442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877e6a420d4bb4" /><Relationship Type="http://schemas.openxmlformats.org/officeDocument/2006/relationships/notesMaster" Target="/ppt/notesMasters/notesMaster1.xml" Id="R591fb4ce1e1940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9924b5f6464495" /><Relationship Type="http://schemas.openxmlformats.org/officeDocument/2006/relationships/notesMaster" Target="/ppt/notesMasters/notesMaster1.xml" Id="R7d1a3209212244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36f06ab7824d77" /><Relationship Type="http://schemas.openxmlformats.org/officeDocument/2006/relationships/notesMaster" Target="/ppt/notesMasters/notesMaster1.xml" Id="R886852251d974d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53cd4a9d2946c3" /><Relationship Type="http://schemas.openxmlformats.org/officeDocument/2006/relationships/notesMaster" Target="/ppt/notesMasters/notesMaster1.xml" Id="R4b2efd1be7704a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4ed884d8a74557" /><Relationship Type="http://schemas.openxmlformats.org/officeDocument/2006/relationships/notesMaster" Target="/ppt/notesMasters/notesMaster1.xml" Id="Rb8508585e28d42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2e1d69e64c447a" /><Relationship Type="http://schemas.openxmlformats.org/officeDocument/2006/relationships/notesMaster" Target="/ppt/notesMasters/notesMaster1.xml" Id="R1b6cff2df32a4e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3775db6bce409a" /><Relationship Type="http://schemas.openxmlformats.org/officeDocument/2006/relationships/notesMaster" Target="/ppt/notesMasters/notesMaster1.xml" Id="R4de2a28448df45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404fc6c00d4b63" /><Relationship Type="http://schemas.openxmlformats.org/officeDocument/2006/relationships/notesMaster" Target="/ppt/notesMasters/notesMaster1.xml" Id="R590d020f92e444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975efd83d7455c" /><Relationship Type="http://schemas.openxmlformats.org/officeDocument/2006/relationships/notesMaster" Target="/ppt/notesMasters/notesMaster1.xml" Id="R4dad5ebfa79c46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5fcc3aa7404a14" /><Relationship Type="http://schemas.openxmlformats.org/officeDocument/2006/relationships/notesMaster" Target="/ppt/notesMasters/notesMaster1.xml" Id="R059eb1a2ac2242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27995a691c4b35" /><Relationship Type="http://schemas.openxmlformats.org/officeDocument/2006/relationships/notesMaster" Target="/ppt/notesMasters/notesMaster1.xml" Id="R6eb16ce367df4d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8855bde2294830" /><Relationship Type="http://schemas.openxmlformats.org/officeDocument/2006/relationships/notesMaster" Target="/ppt/notesMasters/notesMaster1.xml" Id="Rf21d36d7f27c41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c3d0136821f43b3" /><Relationship Type="http://schemas.openxmlformats.org/officeDocument/2006/relationships/notesMaster" Target="/ppt/notesMasters/notesMaster1.xml" Id="Ra4139811d7104fb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84288e83454541" /><Relationship Type="http://schemas.openxmlformats.org/officeDocument/2006/relationships/notesMaster" Target="/ppt/notesMasters/notesMaster1.xml" Id="R9b620505734e4d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c6ac420421404c" /><Relationship Type="http://schemas.openxmlformats.org/officeDocument/2006/relationships/notesMaster" Target="/ppt/notesMasters/notesMaster1.xml" Id="R7a887cbca5ca43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2ef797aa72488d" /><Relationship Type="http://schemas.openxmlformats.org/officeDocument/2006/relationships/notesMaster" Target="/ppt/notesMasters/notesMaster1.xml" Id="Rf949732e2a1844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196f5fe8434f54" /><Relationship Type="http://schemas.openxmlformats.org/officeDocument/2006/relationships/notesMaster" Target="/ppt/notesMasters/notesMaster1.xml" Id="R4df41799ee5d40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repository: https://github.com/manikantbindass/MathInsightAI-Explainable-Math-AI-Model-Analyzer</a:t>
            </a:r>
          </a:p>
          <a:p xmlns:a="http://schemas.openxmlformats.org/drawingml/2006/main">
            <a:r>
              <a:t>Live web application: https://mathlens-wine.vercel.app</a:t>
            </a:r>
          </a:p>
          <a:p xmlns:a="http://schemas.openxmlformats.org/drawingml/2006/main">
            <a:r>
              <a:t>Source facts: README.md, REFINEMENT_AUDIT.md.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shared/math.mjs, shared/advanced.mjs. The word AI refers to implemented machine-learning models, not a connected language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public/app.mjs, public/advanced.mjs, public/research.mjs. This slide explains the actual navigation structure and implemented task routes.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public/app.mjs, public/advanced.mjs, public/research.mjs, public/content.mjs and shared modules. Each capability has explicit input bounds. See 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ARCHITECTURE.md, server/index.mjs, api/index.mjs, vercel.json. There is no database migration layer, durable worker queue, or shared distributed cache in the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API.md, server/index.mjs, shared/math.mjs, shared/advanced.mjs. Polynomial grammar permits signed numeric powers of x with degree at most eight. No eval or Function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shared/linear-algebra.mjs, shared/math.mjs, shared/advanced.mjs. Numerical reference: https://netlib.org/lapack/lug/node27.html. Supported CSV has two numeric columns with x,y header and at most 1,000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shared/advanced.mjs classification(), tests/advanced.test.mjs. Reference: https://scikit-learn.org/stable/modules/linear_model.html#logistic-regression. One numeric feature, binary labels, 10 to 1,000 rows, at least three rows per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shared/advanced.mjs. References: https://scikit-learn.org/stable/modules/clustering.html#k-means and https://scikit-learn.org/stable/modules/decomposition.html#pca. K-means accepts at most 300 rows. PCA accepts at most 1,000 pairs. Eigenvector signs are arbitrary.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shared/math.mjs and shared/advanced.mjs. Results are floating-point values. Matrix near-singularity uses a numerical tolerance. This is not a general symbolic computer-algebra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fixture also appears in tests/advanced.test.mjs. shared/advanced.mjs matrixCalculation() performs partial-pivot Gauss-Jordan elimination. Matrix source and result remain editable text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server/research.mjs, public/research.mjs, RESEARCH_SOURCES.md. Official API: https://info.arxiv.org/help/api/user-manual.html. The adapter uses a fixed HTTPS host, response cap, timeout, and process-local cache/cooldown. No arbitrary URLs or user datasets are sent to arXiv.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public/content.mjs, public/app.mjs, public/advanced.mjs, shared/math.mjs. Difficulty controls currently change template parameter ranges. The advanced title does not imply full olympiad breadth. Three thousand generated puzzle cases are checked in the existing math suite.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AUTHENTICATION.md, PRIVACY.md, server/auth.mjs. No service-role key is required. Configuration rejects privileged Supabase keys. Cookies are Secure in hosted production. Current deployment returned configured:false in the latest completed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SECURITY.md, server/index.mjs, server/auth.mjs. These measures are implemented boundaries, not a compliance certification or independent penetration-test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DEPLOYMENT.md, vercel.json, scripts/build-vercel.mjs. Desktop packaging has isolated Electron devDependencies; it does not change the dependency-free web core. Native clients require internet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TESTING.md and REFINEMENT_AUDIT.md. The native packaging addition introduces separate policy tests and platform-specific smoke checks. The original 49-test count is preserved as the last completed refinement suite, not a claim that the total can never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apps/desktop, apps/android, .github/workflows/native-release.yml and NATIVE_RELEASE_NOTES.md. Packaging and testing occur on supported hosted runners. No private signing key is committed. A debug APK is not a Google Play production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REFINEMENT_AUDIT.md. These items remain planned or partial. The master brief is not complete, and the repository does not claim a stable production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links refer to the current project. The repository owner has not selected a project license. Fonts keep their own SIL Open Font License notices.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28e0730cc44d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419bd499844e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b84a4d6da545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4e8db2785d43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f324ccc27641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d1dce4498246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2E00D7-7714-4C23-8A06-FF6D440FFF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92755F-DF55-4159-9407-5F2FE12DD2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2F2427-263C-438D-B604-C99AD15166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E56D20-CE8E-42B9-8B7A-FB6BA9ED52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0AC50E-7E4F-439B-BEAF-3E1C387B20E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3C1C9A-6F37-4C90-BEB3-EC410588C0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F68F17-34F2-4D07-80C9-0E1AB4EB68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AA2840-CB5E-4823-89EC-98DDBD2580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8373AF-9E72-416C-ABBD-A9F2106F8A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C8C08E-265E-4538-8E0D-407D32BE46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9f9f09a10e40f0" /><Relationship Type="http://schemas.openxmlformats.org/officeDocument/2006/relationships/slideLayout" Target="/ppt/slideLayouts/slideLayout1.xml" Id="Rbf983d0b91184fa0" /><Relationship Type="http://schemas.openxmlformats.org/officeDocument/2006/relationships/slideLayout" Target="/ppt/slideLayouts/slideLayout2.xml" Id="Rccdcad4974f24916" /><Relationship Type="http://schemas.openxmlformats.org/officeDocument/2006/relationships/slideLayout" Target="/ppt/slideLayouts/slideLayout3.xml" Id="Raa34571aa0d74306" /><Relationship Type="http://schemas.openxmlformats.org/officeDocument/2006/relationships/slideLayout" Target="/ppt/slideLayouts/slideLayout4.xml" Id="Rf84b5a8822684f9c" /><Relationship Type="http://schemas.openxmlformats.org/officeDocument/2006/relationships/slideLayout" Target="/ppt/slideLayouts/slideLayout5.xml" Id="R3591815bff514cf5" /><Relationship Type="http://schemas.openxmlformats.org/officeDocument/2006/relationships/slideLayout" Target="/ppt/slideLayouts/slideLayout6.xml" Id="R85e97775a4db4a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983d0b91184fa0"/>
    <p:sldLayoutId xmlns:r="http://schemas.openxmlformats.org/officeDocument/2006/relationships" id="2147483650" r:id="Rccdcad4974f24916"/>
    <p:sldLayoutId xmlns:r="http://schemas.openxmlformats.org/officeDocument/2006/relationships" id="2147483651" r:id="Raa34571aa0d74306"/>
    <p:sldLayoutId xmlns:r="http://schemas.openxmlformats.org/officeDocument/2006/relationships" id="2147483652" r:id="Rf84b5a8822684f9c"/>
    <p:sldLayoutId xmlns:r="http://schemas.openxmlformats.org/officeDocument/2006/relationships" id="2147483653" r:id="R3591815bff514cf5"/>
    <p:sldLayoutId xmlns:r="http://schemas.openxmlformats.org/officeDocument/2006/relationships" id="2147483654" r:id="R85e97775a4db4a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0ce99976084af9" /><Relationship Type="http://schemas.openxmlformats.org/officeDocument/2006/relationships/notesSlide" Target="/ppt/notesSlides/notesSlide1.xml" Id="Rd199ca2dfb8840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19eb744daa245bb" /><Relationship Type="http://schemas.openxmlformats.org/officeDocument/2006/relationships/notesSlide" Target="/ppt/notesSlides/notesSlide2.xml" Id="Rdc98123634b44e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56bf1381ca4c86" /><Relationship Type="http://schemas.openxmlformats.org/officeDocument/2006/relationships/notesSlide" Target="/ppt/notesSlides/notesSlide3.xml" Id="R8a2b3fa8278445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94f66918794b33" /><Relationship Type="http://schemas.openxmlformats.org/officeDocument/2006/relationships/notesSlide" Target="/ppt/notesSlides/notesSlide4.xml" Id="Rffaef1a4e7f044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30e692dfe94a78" /><Relationship Type="http://schemas.openxmlformats.org/officeDocument/2006/relationships/notesSlide" Target="/ppt/notesSlides/notesSlide5.xml" Id="R4f09ebc436054a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7d24e9bf8142f7" /><Relationship Type="http://schemas.openxmlformats.org/officeDocument/2006/relationships/notesSlide" Target="/ppt/notesSlides/notesSlide6.xml" Id="Ree35c74dcb0747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8dc467581b431c" /><Relationship Type="http://schemas.openxmlformats.org/officeDocument/2006/relationships/notesSlide" Target="/ppt/notesSlides/notesSlide7.xml" Id="R40be44214f654a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4baefc7993b4179" /><Relationship Type="http://schemas.openxmlformats.org/officeDocument/2006/relationships/notesSlide" Target="/ppt/notesSlides/notesSlide8.xml" Id="R780d563da9924d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9df5185610475a" /><Relationship Type="http://schemas.openxmlformats.org/officeDocument/2006/relationships/notesSlide" Target="/ppt/notesSlides/notesSlide9.xml" Id="R90e6afc9e73a41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9edd4e58348408c" /><Relationship Type="http://schemas.openxmlformats.org/officeDocument/2006/relationships/notesSlide" Target="/ppt/notesSlides/notesSlide10.xml" Id="R1f2dff012e2340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85a06543374742" /><Relationship Type="http://schemas.openxmlformats.org/officeDocument/2006/relationships/notesSlide" Target="/ppt/notesSlides/notesSlide11.xml" Id="R980b4200deb34d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08efea79e4f4abe" /><Relationship Type="http://schemas.openxmlformats.org/officeDocument/2006/relationships/notesSlide" Target="/ppt/notesSlides/notesSlide12.xml" Id="Reb9f7b03862447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5cf6b09ab624b22" /><Relationship Type="http://schemas.openxmlformats.org/officeDocument/2006/relationships/notesSlide" Target="/ppt/notesSlides/notesSlide13.xml" Id="R361498cf59eb4d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3df3612e06e4862" /><Relationship Type="http://schemas.openxmlformats.org/officeDocument/2006/relationships/notesSlide" Target="/ppt/notesSlides/notesSlide14.xml" Id="Rb47464178a6f43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6ac451206f54bcf" /><Relationship Type="http://schemas.openxmlformats.org/officeDocument/2006/relationships/notesSlide" Target="/ppt/notesSlides/notesSlide15.xml" Id="R8ee7f12d93c640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b70b280e00746e8" /><Relationship Type="http://schemas.openxmlformats.org/officeDocument/2006/relationships/notesSlide" Target="/ppt/notesSlides/notesSlide16.xml" Id="R5e5864fe345141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1e072f7f63c48c2" /><Relationship Type="http://schemas.openxmlformats.org/officeDocument/2006/relationships/notesSlide" Target="/ppt/notesSlides/notesSlide17.xml" Id="Rccccf56729e74a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d033a0b247e4785" /><Relationship Type="http://schemas.openxmlformats.org/officeDocument/2006/relationships/notesSlide" Target="/ppt/notesSlides/notesSlide18.xml" Id="Rdf22e3f7915d4c5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9992824f88c4c3e" /><Relationship Type="http://schemas.openxmlformats.org/officeDocument/2006/relationships/notesSlide" Target="/ppt/notesSlides/notesSlide19.xml" Id="R36513a5c43264ee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a02db7832414ff8" /><Relationship Type="http://schemas.openxmlformats.org/officeDocument/2006/relationships/notesSlide" Target="/ppt/notesSlides/notesSlide20.xml" Id="R23a9c3ff794348fb"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5669BB99-D7C1-4937-BFAD-E11AF2E4E6E8}"/>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01</a:t>
            </a:r>
          </a:p>
        </p:txBody>
      </p:sp>
      <p:sp>
        <p:nvSpPr>
          <p:cNvPr id="3" name="brand">
            <a:extLst xmlns:a="http://schemas.openxmlformats.org/drawingml/2006/main">
              <a:ext uri="{FF2B5EF4-FFF2-40B4-BE49-F238E27FC236}">
                <a16:creationId xmlns:a16="http://schemas.microsoft.com/office/drawing/2014/main" id="{4C1E9438-17F9-4385-AC6D-C2C16912C8EA}"/>
              </a:ext>
            </a:extLst>
          </p:cNvPr>
          <p:cNvSpPr>
            <a:spLocks xmlns:a="http://schemas.openxmlformats.org/drawingml/2006/main" noGrp="1"/>
          </p:cNvSpPr>
          <p:nvPr/>
        </p:nvSpPr>
        <p:spPr>
          <a:xfrm xmlns:a="http://schemas.openxmlformats.org/drawingml/2006/main">
            <a:off x="685800" y="1143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8400">
                <a:solidFill>
                  <a:srgbClr val="F2F2F2"/>
                </a:solidFill>
              </a:defRPr>
            </a:defPPr>
            <a:lvl1pPr>
              <a:defRPr sz="8400">
                <a:solidFill>
                  <a:srgbClr val="F2F2F2"/>
                </a:solidFill>
              </a:defRPr>
            </a:lvl1pPr>
            <a:lvl2pPr>
              <a:defRPr sz="8400">
                <a:solidFill>
                  <a:srgbClr val="F2F2F2"/>
                </a:solidFill>
              </a:defRPr>
            </a:lvl2pPr>
            <a:lvl3pPr>
              <a:defRPr sz="8400">
                <a:solidFill>
                  <a:srgbClr val="F2F2F2"/>
                </a:solidFill>
              </a:defRPr>
            </a:lvl3pPr>
            <a:lvl4pPr>
              <a:defRPr sz="8400">
                <a:solidFill>
                  <a:srgbClr val="F2F2F2"/>
                </a:solidFill>
              </a:defRPr>
            </a:lvl4pPr>
            <a:lvl5pPr>
              <a:defRPr sz="8400">
                <a:solidFill>
                  <a:srgbClr val="F2F2F2"/>
                </a:solidFill>
              </a:defRPr>
            </a:lvl5pPr>
            <a:lvl6pPr>
              <a:defRPr sz="8400">
                <a:solidFill>
                  <a:srgbClr val="F2F2F2"/>
                </a:solidFill>
              </a:defRPr>
            </a:lvl6pPr>
            <a:lvl7pPr>
              <a:defRPr sz="8400">
                <a:solidFill>
                  <a:srgbClr val="F2F2F2"/>
                </a:solidFill>
              </a:defRPr>
            </a:lvl7pPr>
            <a:lvl8pPr>
              <a:defRPr sz="8400">
                <a:solidFill>
                  <a:srgbClr val="F2F2F2"/>
                </a:solidFill>
              </a:defRPr>
            </a:lvl8pPr>
            <a:lvl9pPr>
              <a:defRPr sz="8400">
                <a:solidFill>
                  <a:srgbClr val="F2F2F2"/>
                </a:solidFill>
              </a:defRPr>
            </a:lvl9pPr>
          </a:lstStyle>
          <a:p xmlns:a="http://schemas.openxmlformats.org/drawingml/2006/main">
            <a:pPr>
              <a:defRPr sz="8400">
                <a:solidFill>
                  <a:srgbClr val="F2F2F2"/>
                </a:solidFill>
              </a:defRPr>
            </a:pPr>
            <a:r>
              <a:rPr sz="8400">
                <a:solidFill>
                  <a:srgbClr val="F2F2F2"/>
                </a:solidFill>
              </a:rPr>
              <a:t>MathLens</a:t>
            </a:r>
          </a:p>
        </p:txBody>
      </p:sp>
      <p:sp>
        <p:nvSpPr>
          <p:cNvPr id="4" name="subtitle">
            <a:extLst xmlns:a="http://schemas.openxmlformats.org/drawingml/2006/main">
              <a:ext uri="{FF2B5EF4-FFF2-40B4-BE49-F238E27FC236}">
                <a16:creationId xmlns:a16="http://schemas.microsoft.com/office/drawing/2014/main" id="{BA358B26-3CE9-46D1-B5CB-1C5B00505833}"/>
              </a:ext>
            </a:extLst>
          </p:cNvPr>
          <p:cNvSpPr>
            <a:spLocks xmlns:a="http://schemas.openxmlformats.org/drawingml/2006/main" noGrp="1"/>
          </p:cNvSpPr>
          <p:nvPr/>
        </p:nvSpPr>
        <p:spPr>
          <a:xfrm xmlns:a="http://schemas.openxmlformats.org/drawingml/2006/main">
            <a:off x="742950" y="2762250"/>
            <a:ext cx="1009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a:solidFill>
                  <a:srgbClr val="B5B7BA"/>
                </a:solidFill>
              </a:defRPr>
            </a:defPPr>
            <a:lvl1pPr>
              <a:defRPr sz="2550">
                <a:solidFill>
                  <a:srgbClr val="B5B7BA"/>
                </a:solidFill>
              </a:defRPr>
            </a:lvl1pPr>
            <a:lvl2pPr>
              <a:defRPr sz="2550">
                <a:solidFill>
                  <a:srgbClr val="B5B7BA"/>
                </a:solidFill>
              </a:defRPr>
            </a:lvl2pPr>
            <a:lvl3pPr>
              <a:defRPr sz="2550">
                <a:solidFill>
                  <a:srgbClr val="B5B7BA"/>
                </a:solidFill>
              </a:defRPr>
            </a:lvl3pPr>
            <a:lvl4pPr>
              <a:defRPr sz="2550">
                <a:solidFill>
                  <a:srgbClr val="B5B7BA"/>
                </a:solidFill>
              </a:defRPr>
            </a:lvl4pPr>
            <a:lvl5pPr>
              <a:defRPr sz="2550">
                <a:solidFill>
                  <a:srgbClr val="B5B7BA"/>
                </a:solidFill>
              </a:defRPr>
            </a:lvl5pPr>
            <a:lvl6pPr>
              <a:defRPr sz="2550">
                <a:solidFill>
                  <a:srgbClr val="B5B7BA"/>
                </a:solidFill>
              </a:defRPr>
            </a:lvl6pPr>
            <a:lvl7pPr>
              <a:defRPr sz="2550">
                <a:solidFill>
                  <a:srgbClr val="B5B7BA"/>
                </a:solidFill>
              </a:defRPr>
            </a:lvl7pPr>
            <a:lvl8pPr>
              <a:defRPr sz="2550">
                <a:solidFill>
                  <a:srgbClr val="B5B7BA"/>
                </a:solidFill>
              </a:defRPr>
            </a:lvl8pPr>
            <a:lvl9pPr>
              <a:defRPr sz="2550">
                <a:solidFill>
                  <a:srgbClr val="B5B7BA"/>
                </a:solidFill>
              </a:defRPr>
            </a:lvl9pPr>
          </a:lstStyle>
          <a:p xmlns:a="http://schemas.openxmlformats.org/drawingml/2006/main">
            <a:pPr>
              <a:defRPr sz="2550">
                <a:solidFill>
                  <a:srgbClr val="B5B7BA"/>
                </a:solidFill>
              </a:defRPr>
            </a:pPr>
            <a:r>
              <a:rPr sz="2550">
                <a:solidFill>
                  <a:srgbClr val="B5B7BA"/>
                </a:solidFill>
              </a:rPr>
              <a:t>What it is, what it does, and how it works</a:t>
            </a:r>
          </a:p>
        </p:txBody>
      </p:sp>
      <p:sp>
        <p:nvSpPr>
          <p:cNvPr id="5" name="body">
            <a:extLst xmlns:a="http://schemas.openxmlformats.org/drawingml/2006/main">
              <a:ext uri="{FF2B5EF4-FFF2-40B4-BE49-F238E27FC236}">
                <a16:creationId xmlns:a16="http://schemas.microsoft.com/office/drawing/2014/main" id="{B5DAE35B-5916-4DA2-86C4-15E205098587}"/>
              </a:ext>
            </a:extLst>
          </p:cNvPr>
          <p:cNvSpPr>
            <a:spLocks xmlns:a="http://schemas.openxmlformats.org/drawingml/2006/main" noGrp="1"/>
          </p:cNvSpPr>
          <p:nvPr/>
        </p:nvSpPr>
        <p:spPr>
          <a:xfrm xmlns:a="http://schemas.openxmlformats.org/drawingml/2006/main">
            <a:off x="762000" y="4095750"/>
            <a:ext cx="1000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a:solidFill>
                  <a:srgbClr val="A6A9AD"/>
                </a:solidFill>
              </a:defRPr>
            </a:defPPr>
            <a:lvl1pPr>
              <a:defRPr sz="1725">
                <a:solidFill>
                  <a:srgbClr val="A6A9AD"/>
                </a:solidFill>
              </a:defRPr>
            </a:lvl1pPr>
            <a:lvl2pPr>
              <a:defRPr sz="1725">
                <a:solidFill>
                  <a:srgbClr val="A6A9AD"/>
                </a:solidFill>
              </a:defRPr>
            </a:lvl2pPr>
            <a:lvl3pPr>
              <a:defRPr sz="1725">
                <a:solidFill>
                  <a:srgbClr val="A6A9AD"/>
                </a:solidFill>
              </a:defRPr>
            </a:lvl3pPr>
            <a:lvl4pPr>
              <a:defRPr sz="1725">
                <a:solidFill>
                  <a:srgbClr val="A6A9AD"/>
                </a:solidFill>
              </a:defRPr>
            </a:lvl4pPr>
            <a:lvl5pPr>
              <a:defRPr sz="1725">
                <a:solidFill>
                  <a:srgbClr val="A6A9AD"/>
                </a:solidFill>
              </a:defRPr>
            </a:lvl5pPr>
            <a:lvl6pPr>
              <a:defRPr sz="1725">
                <a:solidFill>
                  <a:srgbClr val="A6A9AD"/>
                </a:solidFill>
              </a:defRPr>
            </a:lvl6pPr>
            <a:lvl7pPr>
              <a:defRPr sz="1725">
                <a:solidFill>
                  <a:srgbClr val="A6A9AD"/>
                </a:solidFill>
              </a:defRPr>
            </a:lvl7pPr>
            <a:lvl8pPr>
              <a:defRPr sz="1725">
                <a:solidFill>
                  <a:srgbClr val="A6A9AD"/>
                </a:solidFill>
              </a:defRPr>
            </a:lvl8pPr>
            <a:lvl9pPr>
              <a:defRPr sz="1725">
                <a:solidFill>
                  <a:srgbClr val="A6A9AD"/>
                </a:solidFill>
              </a:defRPr>
            </a:lvl9pPr>
          </a:lstStyle>
          <a:p xmlns:a="http://schemas.openxmlformats.org/drawingml/2006/main">
            <a:pPr>
              <a:defRPr sz="1725">
                <a:solidFill>
                  <a:srgbClr val="A6A9AD"/>
                </a:solidFill>
              </a:defRPr>
            </a:pPr>
            <a:r>
              <a:rPr sz="1725">
                <a:solidFill>
                  <a:srgbClr val="A6A9AD"/>
                </a:solidFill>
              </a:rPr>
              <a:t>A mathematics and model-analysis workbench</a:t>
            </a:r>
          </a:p>
          <a:p xmlns:a="http://schemas.openxmlformats.org/drawingml/2006/main">
            <a:pPr>
              <a:defRPr sz="1725">
                <a:solidFill>
                  <a:srgbClr val="A6A9AD"/>
                </a:solidFill>
              </a:defRPr>
            </a:pPr>
            <a:r>
              <a:rPr sz="1725">
                <a:solidFill>
                  <a:srgbClr val="A6A9AD"/>
                </a:solidFill>
              </a:rPr>
              <a:t>Version 0.2.0-alpha.1</a:t>
            </a:r>
          </a:p>
          <a:p xmlns:a="http://schemas.openxmlformats.org/drawingml/2006/main">
            <a:pPr>
              <a:defRPr sz="1725">
                <a:solidFill>
                  <a:srgbClr val="A6A9AD"/>
                </a:solidFill>
              </a:defRPr>
            </a:pPr>
            <a:r>
              <a:rPr sz="1725">
                <a:solidFill>
                  <a:srgbClr val="A6A9AD"/>
                </a:solidFill>
              </a:rPr>
              <a:t>Project overview / 28 October 2026</a:t>
            </a:r>
          </a:p>
        </p:txBody>
      </p:sp>
    </p:spTree>
    <p:extLst>
      <p:ext uri="{BB962C8B-B14F-4D97-AF65-F5344CB8AC3E}">
        <p14:creationId xmlns:p14="http://schemas.microsoft.com/office/powerpoint/2010/main" val="1395358076"/>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E15C782D-5D4C-4BF0-B9E1-339D61140AB3}"/>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02</a:t>
            </a:r>
          </a:p>
        </p:txBody>
      </p:sp>
      <p:sp>
        <p:nvSpPr>
          <p:cNvPr id="3" name="title">
            <a:extLst xmlns:a="http://schemas.openxmlformats.org/drawingml/2006/main">
              <a:ext uri="{FF2B5EF4-FFF2-40B4-BE49-F238E27FC236}">
                <a16:creationId xmlns:a16="http://schemas.microsoft.com/office/drawing/2014/main" id="{AEC4AF0C-BF14-4612-9EEC-74A5763B186C}"/>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The project</a:t>
            </a:r>
          </a:p>
        </p:txBody>
      </p:sp>
      <p:sp>
        <p:nvSpPr>
          <p:cNvPr id="4" name="section-0">
            <a:extLst xmlns:a="http://schemas.openxmlformats.org/drawingml/2006/main">
              <a:ext uri="{FF2B5EF4-FFF2-40B4-BE49-F238E27FC236}">
                <a16:creationId xmlns:a16="http://schemas.microsoft.com/office/drawing/2014/main" id="{9C3564A0-8B54-4618-AB70-FD6B94FA4348}"/>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Purpose</a:t>
            </a:r>
          </a:p>
        </p:txBody>
      </p:sp>
      <p:sp>
        <p:nvSpPr>
          <p:cNvPr id="5" name="body-0">
            <a:extLst xmlns:a="http://schemas.openxmlformats.org/drawingml/2006/main">
              <a:ext uri="{FF2B5EF4-FFF2-40B4-BE49-F238E27FC236}">
                <a16:creationId xmlns:a16="http://schemas.microsoft.com/office/drawing/2014/main" id="{2FD3FF43-CE8D-4248-BE10-C17CD610B202}"/>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MathLens connects mathematical calculations with understandable model analysis. Users can run a method, inspect the result, and read its assumptions.</a:t>
            </a:r>
          </a:p>
        </p:txBody>
      </p:sp>
      <p:sp>
        <p:nvSpPr>
          <p:cNvPr id="6" name="section-1">
            <a:extLst xmlns:a="http://schemas.openxmlformats.org/drawingml/2006/main">
              <a:ext uri="{FF2B5EF4-FFF2-40B4-BE49-F238E27FC236}">
                <a16:creationId xmlns:a16="http://schemas.microsoft.com/office/drawing/2014/main" id="{8A773EFF-EE87-4708-8DF9-907FE616F676}"/>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Audience</a:t>
            </a:r>
          </a:p>
        </p:txBody>
      </p:sp>
      <p:sp>
        <p:nvSpPr>
          <p:cNvPr id="7" name="body-1">
            <a:extLst xmlns:a="http://schemas.openxmlformats.org/drawingml/2006/main">
              <a:ext uri="{FF2B5EF4-FFF2-40B4-BE49-F238E27FC236}">
                <a16:creationId xmlns:a16="http://schemas.microsoft.com/office/drawing/2014/main" id="{8A57F4CD-341B-4E78-9BED-F537AD121729}"/>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Students, educators, developers, and curious researchers can explore bounded numerical examples without a paid AI service. The current product is a web alpha.</a:t>
            </a:r>
          </a:p>
        </p:txBody>
      </p:sp>
      <p:sp>
        <p:nvSpPr>
          <p:cNvPr id="8" name="essential-note">
            <a:extLst xmlns:a="http://schemas.openxmlformats.org/drawingml/2006/main">
              <a:ext uri="{FF2B5EF4-FFF2-40B4-BE49-F238E27FC236}">
                <a16:creationId xmlns:a16="http://schemas.microsoft.com/office/drawing/2014/main" id="{D8953CA6-976C-47F2-9F9C-5B7C0A46A5D2}"/>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Core computations run deterministically. No generative AI provider is connected.</a:t>
            </a:r>
          </a:p>
        </p:txBody>
      </p:sp>
    </p:spTree>
    <p:extLst>
      <p:ext uri="{BB962C8B-B14F-4D97-AF65-F5344CB8AC3E}">
        <p14:creationId xmlns:p14="http://schemas.microsoft.com/office/powerpoint/2010/main" val="1734361232"/>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AE84C92D-1908-4FAA-A04C-F1FF4CFA26A9}"/>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03</a:t>
            </a:r>
          </a:p>
        </p:txBody>
      </p:sp>
      <p:sp>
        <p:nvSpPr>
          <p:cNvPr id="3" name="title">
            <a:extLst xmlns:a="http://schemas.openxmlformats.org/drawingml/2006/main">
              <a:ext uri="{FF2B5EF4-FFF2-40B4-BE49-F238E27FC236}">
                <a16:creationId xmlns:a16="http://schemas.microsoft.com/office/drawing/2014/main" id="{B977296A-B435-40DC-8348-38FE936B7CD7}"/>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Workspace navigation</a:t>
            </a:r>
          </a:p>
        </p:txBody>
      </p:sp>
      <p:sp>
        <p:nvSpPr>
          <p:cNvPr id="4" name="section-0">
            <a:extLst xmlns:a="http://schemas.openxmlformats.org/drawingml/2006/main">
              <a:ext uri="{FF2B5EF4-FFF2-40B4-BE49-F238E27FC236}">
                <a16:creationId xmlns:a16="http://schemas.microsoft.com/office/drawing/2014/main" id="{4B5322F3-324A-446C-BBA3-D12199990250}"/>
              </a:ext>
            </a:extLst>
          </p:cNvPr>
          <p:cNvSpPr>
            <a:spLocks xmlns:a="http://schemas.openxmlformats.org/drawingml/2006/main" noGrp="1"/>
          </p:cNvSpPr>
          <p:nvPr/>
        </p:nvSpPr>
        <p:spPr>
          <a:xfrm xmlns:a="http://schemas.openxmlformats.org/drawingml/2006/main">
            <a:off x="685800" y="1781175"/>
            <a:ext cx="5029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F2F2F2"/>
                </a:solidFill>
                <a:latin typeface="Arial"/>
                <a:ea typeface="Arial"/>
                <a:cs typeface="Arial"/>
              </a:defRPr>
            </a:defPPr>
            <a:lvl1pPr>
              <a:defRPr sz="2175">
                <a:solidFill>
                  <a:srgbClr val="F2F2F2"/>
                </a:solidFill>
                <a:latin typeface="Arial"/>
                <a:ea typeface="Arial"/>
                <a:cs typeface="Arial"/>
              </a:defRPr>
            </a:lvl1pPr>
            <a:lvl2pPr>
              <a:defRPr sz="2175">
                <a:solidFill>
                  <a:srgbClr val="F2F2F2"/>
                </a:solidFill>
                <a:latin typeface="Arial"/>
                <a:ea typeface="Arial"/>
                <a:cs typeface="Arial"/>
              </a:defRPr>
            </a:lvl2pPr>
            <a:lvl3pPr>
              <a:defRPr sz="2175">
                <a:solidFill>
                  <a:srgbClr val="F2F2F2"/>
                </a:solidFill>
                <a:latin typeface="Arial"/>
                <a:ea typeface="Arial"/>
                <a:cs typeface="Arial"/>
              </a:defRPr>
            </a:lvl3pPr>
            <a:lvl4pPr>
              <a:defRPr sz="2175">
                <a:solidFill>
                  <a:srgbClr val="F2F2F2"/>
                </a:solidFill>
                <a:latin typeface="Arial"/>
                <a:ea typeface="Arial"/>
                <a:cs typeface="Arial"/>
              </a:defRPr>
            </a:lvl4pPr>
            <a:lvl5pPr>
              <a:defRPr sz="2175">
                <a:solidFill>
                  <a:srgbClr val="F2F2F2"/>
                </a:solidFill>
                <a:latin typeface="Arial"/>
                <a:ea typeface="Arial"/>
                <a:cs typeface="Arial"/>
              </a:defRPr>
            </a:lvl5pPr>
            <a:lvl6pPr>
              <a:defRPr sz="2175">
                <a:solidFill>
                  <a:srgbClr val="F2F2F2"/>
                </a:solidFill>
                <a:latin typeface="Arial"/>
                <a:ea typeface="Arial"/>
                <a:cs typeface="Arial"/>
              </a:defRPr>
            </a:lvl6pPr>
            <a:lvl7pPr>
              <a:defRPr sz="2175">
                <a:solidFill>
                  <a:srgbClr val="F2F2F2"/>
                </a:solidFill>
                <a:latin typeface="Arial"/>
                <a:ea typeface="Arial"/>
                <a:cs typeface="Arial"/>
              </a:defRPr>
            </a:lvl7pPr>
            <a:lvl8pPr>
              <a:defRPr sz="2175">
                <a:solidFill>
                  <a:srgbClr val="F2F2F2"/>
                </a:solidFill>
                <a:latin typeface="Arial"/>
                <a:ea typeface="Arial"/>
                <a:cs typeface="Arial"/>
              </a:defRPr>
            </a:lvl8pPr>
            <a:lvl9pPr>
              <a:defRPr sz="2175">
                <a:solidFill>
                  <a:srgbClr val="F2F2F2"/>
                </a:solidFill>
                <a:latin typeface="Arial"/>
                <a:ea typeface="Arial"/>
                <a:cs typeface="Arial"/>
              </a:defRPr>
            </a:lvl9pPr>
          </a:lstStyle>
          <a:p xmlns:a="http://schemas.openxmlformats.org/drawingml/2006/main">
            <a:pPr>
              <a:defRPr sz="2175">
                <a:solidFill>
                  <a:srgbClr val="F2F2F2"/>
                </a:solidFill>
                <a:latin typeface="Arial"/>
                <a:ea typeface="Arial"/>
                <a:cs typeface="Arial"/>
              </a:defRPr>
            </a:pPr>
            <a:r>
              <a:rPr sz="2175">
                <a:solidFill>
                  <a:srgbClr val="F2F2F2"/>
                </a:solidFill>
                <a:latin typeface="Arial"/>
                <a:ea typeface="Arial"/>
                <a:cs typeface="Arial"/>
              </a:rPr>
              <a:t>A consistent workspace</a:t>
            </a:r>
          </a:p>
        </p:txBody>
      </p:sp>
      <p:sp>
        <p:nvSpPr>
          <p:cNvPr id="5" name="body-0">
            <a:extLst xmlns:a="http://schemas.openxmlformats.org/drawingml/2006/main">
              <a:ext uri="{FF2B5EF4-FFF2-40B4-BE49-F238E27FC236}">
                <a16:creationId xmlns:a16="http://schemas.microsoft.com/office/drawing/2014/main" id="{C7B3FAC1-0A5E-4382-9F3E-BC019C5E4D3E}"/>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A6A9AD"/>
                </a:solidFill>
                <a:latin typeface="Arial"/>
                <a:ea typeface="Arial"/>
                <a:cs typeface="Arial"/>
              </a:defRPr>
            </a:defPPr>
            <a:lvl1pPr>
              <a:defRPr sz="1800">
                <a:solidFill>
                  <a:srgbClr val="A6A9AD"/>
                </a:solidFill>
                <a:latin typeface="Arial"/>
                <a:ea typeface="Arial"/>
                <a:cs typeface="Arial"/>
              </a:defRPr>
            </a:lvl1pPr>
            <a:lvl2pPr>
              <a:defRPr sz="1800">
                <a:solidFill>
                  <a:srgbClr val="A6A9AD"/>
                </a:solidFill>
                <a:latin typeface="Arial"/>
                <a:ea typeface="Arial"/>
                <a:cs typeface="Arial"/>
              </a:defRPr>
            </a:lvl2pPr>
            <a:lvl3pPr>
              <a:defRPr sz="1800">
                <a:solidFill>
                  <a:srgbClr val="A6A9AD"/>
                </a:solidFill>
                <a:latin typeface="Arial"/>
                <a:ea typeface="Arial"/>
                <a:cs typeface="Arial"/>
              </a:defRPr>
            </a:lvl3pPr>
            <a:lvl4pPr>
              <a:defRPr sz="1800">
                <a:solidFill>
                  <a:srgbClr val="A6A9AD"/>
                </a:solidFill>
                <a:latin typeface="Arial"/>
                <a:ea typeface="Arial"/>
                <a:cs typeface="Arial"/>
              </a:defRPr>
            </a:lvl4pPr>
            <a:lvl5pPr>
              <a:defRPr sz="1800">
                <a:solidFill>
                  <a:srgbClr val="A6A9AD"/>
                </a:solidFill>
                <a:latin typeface="Arial"/>
                <a:ea typeface="Arial"/>
                <a:cs typeface="Arial"/>
              </a:defRPr>
            </a:lvl5pPr>
            <a:lvl6pPr>
              <a:defRPr sz="1800">
                <a:solidFill>
                  <a:srgbClr val="A6A9AD"/>
                </a:solidFill>
                <a:latin typeface="Arial"/>
                <a:ea typeface="Arial"/>
                <a:cs typeface="Arial"/>
              </a:defRPr>
            </a:lvl6pPr>
            <a:lvl7pPr>
              <a:defRPr sz="1800">
                <a:solidFill>
                  <a:srgbClr val="A6A9AD"/>
                </a:solidFill>
                <a:latin typeface="Arial"/>
                <a:ea typeface="Arial"/>
                <a:cs typeface="Arial"/>
              </a:defRPr>
            </a:lvl7pPr>
            <a:lvl8pPr>
              <a:defRPr sz="1800">
                <a:solidFill>
                  <a:srgbClr val="A6A9AD"/>
                </a:solidFill>
                <a:latin typeface="Arial"/>
                <a:ea typeface="Arial"/>
                <a:cs typeface="Arial"/>
              </a:defRPr>
            </a:lvl8pPr>
            <a:lvl9pPr>
              <a:defRPr sz="1800">
                <a:solidFill>
                  <a:srgbClr val="A6A9AD"/>
                </a:solidFill>
                <a:latin typeface="Arial"/>
                <a:ea typeface="Arial"/>
                <a:cs typeface="Arial"/>
              </a:defRPr>
            </a:lvl9pPr>
          </a:lstStyle>
          <a:p xmlns:a="http://schemas.openxmlformats.org/drawingml/2006/main">
            <a:pPr>
              <a:defRPr sz="1800">
                <a:solidFill>
                  <a:srgbClr val="A6A9AD"/>
                </a:solidFill>
                <a:latin typeface="Arial"/>
                <a:ea typeface="Arial"/>
                <a:cs typeface="Arial"/>
              </a:defRPr>
            </a:pPr>
            <a:r>
              <a:rPr sz="1800">
                <a:solidFill>
                  <a:srgbClr val="A6A9AD"/>
                </a:solidFill>
                <a:latin typeface="Arial"/>
                <a:ea typeface="Arial"/>
                <a:cs typeface="Arial"/>
              </a:rPr>
              <a:t>The sidebar connects the overview, model lab, equation explorer, historical timeline, research library, open problems, puzzles, visualizations, lessons, and documentation.</a:t>
            </a:r>
          </a:p>
        </p:txBody>
      </p:sp>
      <p:sp>
        <p:nvSpPr>
          <p:cNvPr id="6" name="section-1">
            <a:extLst xmlns:a="http://schemas.openxmlformats.org/drawingml/2006/main">
              <a:ext uri="{FF2B5EF4-FFF2-40B4-BE49-F238E27FC236}">
                <a16:creationId xmlns:a16="http://schemas.microsoft.com/office/drawing/2014/main" id="{7E94A33F-1073-4C26-9A7A-8CF04034377D}"/>
              </a:ext>
            </a:extLst>
          </p:cNvPr>
          <p:cNvSpPr>
            <a:spLocks xmlns:a="http://schemas.openxmlformats.org/drawingml/2006/main" noGrp="1"/>
          </p:cNvSpPr>
          <p:nvPr/>
        </p:nvSpPr>
        <p:spPr>
          <a:xfrm xmlns:a="http://schemas.openxmlformats.org/drawingml/2006/main">
            <a:off x="6343650" y="1781175"/>
            <a:ext cx="5029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F2F2F2"/>
                </a:solidFill>
                <a:latin typeface="Arial"/>
                <a:ea typeface="Arial"/>
                <a:cs typeface="Arial"/>
              </a:defRPr>
            </a:defPPr>
            <a:lvl1pPr>
              <a:defRPr sz="2175">
                <a:solidFill>
                  <a:srgbClr val="F2F2F2"/>
                </a:solidFill>
                <a:latin typeface="Arial"/>
                <a:ea typeface="Arial"/>
                <a:cs typeface="Arial"/>
              </a:defRPr>
            </a:lvl1pPr>
            <a:lvl2pPr>
              <a:defRPr sz="2175">
                <a:solidFill>
                  <a:srgbClr val="F2F2F2"/>
                </a:solidFill>
                <a:latin typeface="Arial"/>
                <a:ea typeface="Arial"/>
                <a:cs typeface="Arial"/>
              </a:defRPr>
            </a:lvl2pPr>
            <a:lvl3pPr>
              <a:defRPr sz="2175">
                <a:solidFill>
                  <a:srgbClr val="F2F2F2"/>
                </a:solidFill>
                <a:latin typeface="Arial"/>
                <a:ea typeface="Arial"/>
                <a:cs typeface="Arial"/>
              </a:defRPr>
            </a:lvl3pPr>
            <a:lvl4pPr>
              <a:defRPr sz="2175">
                <a:solidFill>
                  <a:srgbClr val="F2F2F2"/>
                </a:solidFill>
                <a:latin typeface="Arial"/>
                <a:ea typeface="Arial"/>
                <a:cs typeface="Arial"/>
              </a:defRPr>
            </a:lvl4pPr>
            <a:lvl5pPr>
              <a:defRPr sz="2175">
                <a:solidFill>
                  <a:srgbClr val="F2F2F2"/>
                </a:solidFill>
                <a:latin typeface="Arial"/>
                <a:ea typeface="Arial"/>
                <a:cs typeface="Arial"/>
              </a:defRPr>
            </a:lvl5pPr>
            <a:lvl6pPr>
              <a:defRPr sz="2175">
                <a:solidFill>
                  <a:srgbClr val="F2F2F2"/>
                </a:solidFill>
                <a:latin typeface="Arial"/>
                <a:ea typeface="Arial"/>
                <a:cs typeface="Arial"/>
              </a:defRPr>
            </a:lvl6pPr>
            <a:lvl7pPr>
              <a:defRPr sz="2175">
                <a:solidFill>
                  <a:srgbClr val="F2F2F2"/>
                </a:solidFill>
                <a:latin typeface="Arial"/>
                <a:ea typeface="Arial"/>
                <a:cs typeface="Arial"/>
              </a:defRPr>
            </a:lvl7pPr>
            <a:lvl8pPr>
              <a:defRPr sz="2175">
                <a:solidFill>
                  <a:srgbClr val="F2F2F2"/>
                </a:solidFill>
                <a:latin typeface="Arial"/>
                <a:ea typeface="Arial"/>
                <a:cs typeface="Arial"/>
              </a:defRPr>
            </a:lvl8pPr>
            <a:lvl9pPr>
              <a:defRPr sz="2175">
                <a:solidFill>
                  <a:srgbClr val="F2F2F2"/>
                </a:solidFill>
                <a:latin typeface="Arial"/>
                <a:ea typeface="Arial"/>
                <a:cs typeface="Arial"/>
              </a:defRPr>
            </a:lvl9pPr>
          </a:lstStyle>
          <a:p xmlns:a="http://schemas.openxmlformats.org/drawingml/2006/main">
            <a:pPr>
              <a:defRPr sz="2175">
                <a:solidFill>
                  <a:srgbClr val="F2F2F2"/>
                </a:solidFill>
                <a:latin typeface="Arial"/>
                <a:ea typeface="Arial"/>
                <a:cs typeface="Arial"/>
              </a:defRPr>
            </a:pPr>
            <a:r>
              <a:rPr sz="2175">
                <a:solidFill>
                  <a:srgbClr val="F2F2F2"/>
                </a:solidFill>
                <a:latin typeface="Arial"/>
                <a:ea typeface="Arial"/>
                <a:cs typeface="Arial"/>
              </a:rPr>
              <a:t>Focused analysis views</a:t>
            </a:r>
          </a:p>
        </p:txBody>
      </p:sp>
      <p:sp>
        <p:nvSpPr>
          <p:cNvPr id="7" name="body-1">
            <a:extLst xmlns:a="http://schemas.openxmlformats.org/drawingml/2006/main">
              <a:ext uri="{FF2B5EF4-FFF2-40B4-BE49-F238E27FC236}">
                <a16:creationId xmlns:a16="http://schemas.microsoft.com/office/drawing/2014/main" id="{5A577619-E05B-4448-AC35-813C6B24E04E}"/>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A6A9AD"/>
                </a:solidFill>
                <a:latin typeface="Arial"/>
                <a:ea typeface="Arial"/>
                <a:cs typeface="Arial"/>
              </a:defRPr>
            </a:defPPr>
            <a:lvl1pPr>
              <a:defRPr sz="1800">
                <a:solidFill>
                  <a:srgbClr val="A6A9AD"/>
                </a:solidFill>
                <a:latin typeface="Arial"/>
                <a:ea typeface="Arial"/>
                <a:cs typeface="Arial"/>
              </a:defRPr>
            </a:lvl1pPr>
            <a:lvl2pPr>
              <a:defRPr sz="1800">
                <a:solidFill>
                  <a:srgbClr val="A6A9AD"/>
                </a:solidFill>
                <a:latin typeface="Arial"/>
                <a:ea typeface="Arial"/>
                <a:cs typeface="Arial"/>
              </a:defRPr>
            </a:lvl2pPr>
            <a:lvl3pPr>
              <a:defRPr sz="1800">
                <a:solidFill>
                  <a:srgbClr val="A6A9AD"/>
                </a:solidFill>
                <a:latin typeface="Arial"/>
                <a:ea typeface="Arial"/>
                <a:cs typeface="Arial"/>
              </a:defRPr>
            </a:lvl3pPr>
            <a:lvl4pPr>
              <a:defRPr sz="1800">
                <a:solidFill>
                  <a:srgbClr val="A6A9AD"/>
                </a:solidFill>
                <a:latin typeface="Arial"/>
                <a:ea typeface="Arial"/>
                <a:cs typeface="Arial"/>
              </a:defRPr>
            </a:lvl4pPr>
            <a:lvl5pPr>
              <a:defRPr sz="1800">
                <a:solidFill>
                  <a:srgbClr val="A6A9AD"/>
                </a:solidFill>
                <a:latin typeface="Arial"/>
                <a:ea typeface="Arial"/>
                <a:cs typeface="Arial"/>
              </a:defRPr>
            </a:lvl5pPr>
            <a:lvl6pPr>
              <a:defRPr sz="1800">
                <a:solidFill>
                  <a:srgbClr val="A6A9AD"/>
                </a:solidFill>
                <a:latin typeface="Arial"/>
                <a:ea typeface="Arial"/>
                <a:cs typeface="Arial"/>
              </a:defRPr>
            </a:lvl6pPr>
            <a:lvl7pPr>
              <a:defRPr sz="1800">
                <a:solidFill>
                  <a:srgbClr val="A6A9AD"/>
                </a:solidFill>
                <a:latin typeface="Arial"/>
                <a:ea typeface="Arial"/>
                <a:cs typeface="Arial"/>
              </a:defRPr>
            </a:lvl7pPr>
            <a:lvl8pPr>
              <a:defRPr sz="1800">
                <a:solidFill>
                  <a:srgbClr val="A6A9AD"/>
                </a:solidFill>
                <a:latin typeface="Arial"/>
                <a:ea typeface="Arial"/>
                <a:cs typeface="Arial"/>
              </a:defRPr>
            </a:lvl8pPr>
            <a:lvl9pPr>
              <a:defRPr sz="1800">
                <a:solidFill>
                  <a:srgbClr val="A6A9AD"/>
                </a:solidFill>
                <a:latin typeface="Arial"/>
                <a:ea typeface="Arial"/>
                <a:cs typeface="Arial"/>
              </a:defRPr>
            </a:lvl9pPr>
          </a:lstStyle>
          <a:p xmlns:a="http://schemas.openxmlformats.org/drawingml/2006/main">
            <a:pPr>
              <a:defRPr sz="1800">
                <a:solidFill>
                  <a:srgbClr val="A6A9AD"/>
                </a:solidFill>
                <a:latin typeface="Arial"/>
                <a:ea typeface="Arial"/>
                <a:cs typeface="Arial"/>
              </a:defRPr>
            </a:pPr>
            <a:r>
              <a:rPr sz="1800">
                <a:solidFill>
                  <a:srgbClr val="A6A9AD"/>
                </a:solidFill>
                <a:latin typeface="Arial"/>
                <a:ea typeface="Arial"/>
                <a:cs typeface="Arial"/>
              </a:rPr>
              <a:t>The model lab separates regression, classification, clustering, PCA, and comparison. The workbench separates polynomials, matrices, numerical roots, definite integrals, and statistics.</a:t>
            </a:r>
          </a:p>
        </p:txBody>
      </p:sp>
    </p:spTree>
    <p:extLst>
      <p:ext uri="{BB962C8B-B14F-4D97-AF65-F5344CB8AC3E}">
        <p14:creationId xmlns:p14="http://schemas.microsoft.com/office/powerpoint/2010/main" val="23280234"/>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2874C03B-6A82-4848-A9DA-897745CAF7B4}"/>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04</a:t>
            </a:r>
          </a:p>
        </p:txBody>
      </p:sp>
      <p:sp>
        <p:nvSpPr>
          <p:cNvPr id="3" name="title">
            <a:extLst xmlns:a="http://schemas.openxmlformats.org/drawingml/2006/main">
              <a:ext uri="{FF2B5EF4-FFF2-40B4-BE49-F238E27FC236}">
                <a16:creationId xmlns:a16="http://schemas.microsoft.com/office/drawing/2014/main" id="{D0FC6D77-70AB-4B45-94F2-A1B87AD34EE6}"/>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Main capabilities</a:t>
            </a:r>
          </a:p>
        </p:txBody>
      </p:sp>
      <p:sp>
        <p:nvSpPr>
          <p:cNvPr id="4" name="section-0">
            <a:extLst xmlns:a="http://schemas.openxmlformats.org/drawingml/2006/main">
              <a:ext uri="{FF2B5EF4-FFF2-40B4-BE49-F238E27FC236}">
                <a16:creationId xmlns:a16="http://schemas.microsoft.com/office/drawing/2014/main" id="{A5A3D057-C3A8-4BCE-801F-4F837ADDCD08}"/>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Computation and analysis</a:t>
            </a:r>
          </a:p>
        </p:txBody>
      </p:sp>
      <p:sp>
        <p:nvSpPr>
          <p:cNvPr id="5" name="body-0">
            <a:extLst xmlns:a="http://schemas.openxmlformats.org/drawingml/2006/main">
              <a:ext uri="{FF2B5EF4-FFF2-40B4-BE49-F238E27FC236}">
                <a16:creationId xmlns:a16="http://schemas.microsoft.com/office/drawing/2014/main" id="{F94B0879-5174-4A14-90F9-516B50FF614A}"/>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Polynomial calculus and numerical roots</a:t>
            </a:r>
          </a:p>
          <a:p xmlns:a="http://schemas.openxmlformats.org/drawingml/2006/main">
            <a:pPr>
              <a:defRPr sz="1800">
                <a:solidFill>
                  <a:srgbClr val="A6A9AD"/>
                </a:solidFill>
              </a:defRPr>
            </a:pPr>
            <a:r>
              <a:rPr sz="1800">
                <a:solidFill>
                  <a:srgbClr val="A6A9AD"/>
                </a:solidFill>
              </a:rPr>
              <a:t>Matrix operations and descriptive statistics</a:t>
            </a:r>
          </a:p>
          <a:p xmlns:a="http://schemas.openxmlformats.org/drawingml/2006/main">
            <a:pPr>
              <a:defRPr sz="1800">
                <a:solidFill>
                  <a:srgbClr val="A6A9AD"/>
                </a:solidFill>
              </a:defRPr>
            </a:pPr>
            <a:r>
              <a:rPr sz="1800">
                <a:solidFill>
                  <a:srgbClr val="A6A9AD"/>
                </a:solidFill>
              </a:rPr>
              <a:t>Regression and binary classification</a:t>
            </a:r>
          </a:p>
          <a:p xmlns:a="http://schemas.openxmlformats.org/drawingml/2006/main">
            <a:pPr>
              <a:defRPr sz="1800">
                <a:solidFill>
                  <a:srgbClr val="A6A9AD"/>
                </a:solidFill>
              </a:defRPr>
            </a:pPr>
            <a:r>
              <a:rPr sz="1800">
                <a:solidFill>
                  <a:srgbClr val="A6A9AD"/>
                </a:solidFill>
              </a:rPr>
              <a:t>Clustering, PCA, and model comparison</a:t>
            </a:r>
          </a:p>
        </p:txBody>
      </p:sp>
      <p:sp>
        <p:nvSpPr>
          <p:cNvPr id="6" name="section-1">
            <a:extLst xmlns:a="http://schemas.openxmlformats.org/drawingml/2006/main">
              <a:ext uri="{FF2B5EF4-FFF2-40B4-BE49-F238E27FC236}">
                <a16:creationId xmlns:a16="http://schemas.microsoft.com/office/drawing/2014/main" id="{FE7C4F04-6D1B-4E47-AB95-0411FFC9AD6A}"/>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Exploration and education</a:t>
            </a:r>
          </a:p>
        </p:txBody>
      </p:sp>
      <p:sp>
        <p:nvSpPr>
          <p:cNvPr id="7" name="body-1">
            <a:extLst xmlns:a="http://schemas.openxmlformats.org/drawingml/2006/main">
              <a:ext uri="{FF2B5EF4-FFF2-40B4-BE49-F238E27FC236}">
                <a16:creationId xmlns:a16="http://schemas.microsoft.com/office/drawing/2014/main" id="{7DE72EB1-0064-4835-B16D-D8357A61326F}"/>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Gradient-descent visualizations</a:t>
            </a:r>
          </a:p>
          <a:p xmlns:a="http://schemas.openxmlformats.org/drawingml/2006/main">
            <a:pPr>
              <a:defRPr sz="1800">
                <a:solidFill>
                  <a:srgbClr val="A6A9AD"/>
                </a:solidFill>
              </a:defRPr>
            </a:pPr>
            <a:r>
              <a:rPr sz="1800">
                <a:solidFill>
                  <a:srgbClr val="A6A9AD"/>
                </a:solidFill>
              </a:rPr>
              <a:t>Curated references and a live arXiv feed</a:t>
            </a:r>
          </a:p>
          <a:p xmlns:a="http://schemas.openxmlformats.org/drawingml/2006/main">
            <a:pPr>
              <a:defRPr sz="1800">
                <a:solidFill>
                  <a:srgbClr val="A6A9AD"/>
                </a:solidFill>
              </a:defRPr>
            </a:pPr>
            <a:r>
              <a:rPr sz="1800">
                <a:solidFill>
                  <a:srgbClr val="A6A9AD"/>
                </a:solidFill>
              </a:rPr>
              <a:t>Historical timeline and open problems</a:t>
            </a:r>
          </a:p>
          <a:p xmlns:a="http://schemas.openxmlformats.org/drawingml/2006/main">
            <a:pPr>
              <a:defRPr sz="1800">
                <a:solidFill>
                  <a:srgbClr val="A6A9AD"/>
                </a:solidFill>
              </a:defRPr>
            </a:pPr>
            <a:r>
              <a:rPr sz="1800">
                <a:solidFill>
                  <a:srgbClr val="A6A9AD"/>
                </a:solidFill>
              </a:rPr>
              <a:t>Nine lessons and ten puzzle categories</a:t>
            </a:r>
          </a:p>
        </p:txBody>
      </p:sp>
    </p:spTree>
    <p:extLst>
      <p:ext uri="{BB962C8B-B14F-4D97-AF65-F5344CB8AC3E}">
        <p14:creationId xmlns:p14="http://schemas.microsoft.com/office/powerpoint/2010/main" val="1199097410"/>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9399CDB0-3BC6-4E70-AA1C-A3C4CDCDB5A3}"/>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05</a:t>
            </a:r>
          </a:p>
        </p:txBody>
      </p:sp>
      <p:sp>
        <p:nvSpPr>
          <p:cNvPr id="3" name="title">
            <a:extLst xmlns:a="http://schemas.openxmlformats.org/drawingml/2006/main">
              <a:ext uri="{FF2B5EF4-FFF2-40B4-BE49-F238E27FC236}">
                <a16:creationId xmlns:a16="http://schemas.microsoft.com/office/drawing/2014/main" id="{0DB526E3-7AF1-4BCB-94B6-77442CAC4EB3}"/>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System architecture</a:t>
            </a:r>
          </a:p>
        </p:txBody>
      </p:sp>
      <p:sp>
        <p:nvSpPr>
          <p:cNvPr id="4" name="section-0">
            <a:extLst xmlns:a="http://schemas.openxmlformats.org/drawingml/2006/main">
              <a:ext uri="{FF2B5EF4-FFF2-40B4-BE49-F238E27FC236}">
                <a16:creationId xmlns:a16="http://schemas.microsoft.com/office/drawing/2014/main" id="{2D80795B-C1B3-49E4-A5F1-7714B373339C}"/>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Browser interface</a:t>
            </a:r>
          </a:p>
        </p:txBody>
      </p:sp>
      <p:sp>
        <p:nvSpPr>
          <p:cNvPr id="5" name="body-0">
            <a:extLst xmlns:a="http://schemas.openxmlformats.org/drawingml/2006/main">
              <a:ext uri="{FF2B5EF4-FFF2-40B4-BE49-F238E27FC236}">
                <a16:creationId xmlns:a16="http://schemas.microsoft.com/office/drawing/2014/main" id="{DE4E344E-2ADE-4648-B7CA-D8DADD5EE205}"/>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Native ES modules render semantic HTML and SVG charts. Forms send JSON to versioned APIs. Local storage holds learning progress, bookmarks, and optional experiment metadata.</a:t>
            </a:r>
          </a:p>
        </p:txBody>
      </p:sp>
      <p:sp>
        <p:nvSpPr>
          <p:cNvPr id="6" name="section-1">
            <a:extLst xmlns:a="http://schemas.openxmlformats.org/drawingml/2006/main">
              <a:ext uri="{FF2B5EF4-FFF2-40B4-BE49-F238E27FC236}">
                <a16:creationId xmlns:a16="http://schemas.microsoft.com/office/drawing/2014/main" id="{C791427B-330F-48D7-BB0A-17E581CADB88}"/>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Server and providers</a:t>
            </a:r>
          </a:p>
        </p:txBody>
      </p:sp>
      <p:sp>
        <p:nvSpPr>
          <p:cNvPr id="7" name="body-1">
            <a:extLst xmlns:a="http://schemas.openxmlformats.org/drawingml/2006/main">
              <a:ext uri="{FF2B5EF4-FFF2-40B4-BE49-F238E27FC236}">
                <a16:creationId xmlns:a16="http://schemas.microsoft.com/office/drawing/2014/main" id="{5AA6D56B-F620-41A1-BE37-B82279A5EF80}"/>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A Node request handler validates inputs and calls shared mathematical functions. Vercel serves static assets and a Node function. Optional Supabase handles identity. The research adapter calls arXiv.</a:t>
            </a:r>
          </a:p>
        </p:txBody>
      </p:sp>
      <p:sp>
        <p:nvSpPr>
          <p:cNvPr id="8" name="essential-note">
            <a:extLst xmlns:a="http://schemas.openxmlformats.org/drawingml/2006/main">
              <a:ext uri="{FF2B5EF4-FFF2-40B4-BE49-F238E27FC236}">
                <a16:creationId xmlns:a16="http://schemas.microsoft.com/office/drawing/2014/main" id="{6883A942-F516-462D-91A6-12380757DC62}"/>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The local Node server and the Vercel function reuse the same request handler.</a:t>
            </a:r>
          </a:p>
        </p:txBody>
      </p:sp>
    </p:spTree>
    <p:extLst>
      <p:ext uri="{BB962C8B-B14F-4D97-AF65-F5344CB8AC3E}">
        <p14:creationId xmlns:p14="http://schemas.microsoft.com/office/powerpoint/2010/main" val="726981850"/>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966B37DE-D09E-46A2-A219-32208A2FB87E}"/>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06</a:t>
            </a:r>
          </a:p>
        </p:txBody>
      </p:sp>
      <p:sp>
        <p:nvSpPr>
          <p:cNvPr id="3" name="title">
            <a:extLst xmlns:a="http://schemas.openxmlformats.org/drawingml/2006/main">
              <a:ext uri="{FF2B5EF4-FFF2-40B4-BE49-F238E27FC236}">
                <a16:creationId xmlns:a16="http://schemas.microsoft.com/office/drawing/2014/main" id="{CD2BF546-56D9-434E-8D6D-DA567A2F613C}"/>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A calculation request</a:t>
            </a:r>
          </a:p>
        </p:txBody>
      </p:sp>
      <p:sp>
        <p:nvSpPr>
          <p:cNvPr id="4" name="section-0">
            <a:extLst xmlns:a="http://schemas.openxmlformats.org/drawingml/2006/main">
              <a:ext uri="{FF2B5EF4-FFF2-40B4-BE49-F238E27FC236}">
                <a16:creationId xmlns:a16="http://schemas.microsoft.com/office/drawing/2014/main" id="{5F9158B7-84BD-4E5E-ADFC-ED0AE7D22A78}"/>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Input and validation</a:t>
            </a:r>
          </a:p>
        </p:txBody>
      </p:sp>
      <p:sp>
        <p:nvSpPr>
          <p:cNvPr id="5" name="body-0">
            <a:extLst xmlns:a="http://schemas.openxmlformats.org/drawingml/2006/main">
              <a:ext uri="{FF2B5EF4-FFF2-40B4-BE49-F238E27FC236}">
                <a16:creationId xmlns:a16="http://schemas.microsoft.com/office/drawing/2014/main" id="{0BD23E3B-6ADA-4124-A6C3-294814E616B0}"/>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The user enters a polynomial or a bounded matrix. The browser checks required fields. The server checks method, JSON type, origin, body size, schema, ranges, and mathematical constraints.</a:t>
            </a:r>
          </a:p>
        </p:txBody>
      </p:sp>
      <p:sp>
        <p:nvSpPr>
          <p:cNvPr id="6" name="section-1">
            <a:extLst xmlns:a="http://schemas.openxmlformats.org/drawingml/2006/main">
              <a:ext uri="{FF2B5EF4-FFF2-40B4-BE49-F238E27FC236}">
                <a16:creationId xmlns:a16="http://schemas.microsoft.com/office/drawing/2014/main" id="{0A413EC8-1CBD-4F41-8299-A2861C33A86E}"/>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Computation and explanation</a:t>
            </a:r>
          </a:p>
        </p:txBody>
      </p:sp>
      <p:sp>
        <p:nvSpPr>
          <p:cNvPr id="7" name="body-1">
            <a:extLst xmlns:a="http://schemas.openxmlformats.org/drawingml/2006/main">
              <a:ext uri="{FF2B5EF4-FFF2-40B4-BE49-F238E27FC236}">
                <a16:creationId xmlns:a16="http://schemas.microsoft.com/office/drawing/2014/main" id="{DA352F20-8F55-44D5-A69C-F1C2B915AD67}"/>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An allowlisted algorithm computes values. The API returns results, method notes, and numerical limitations. The interface renders tables or plots. JSON export preserves the input and result.</a:t>
            </a:r>
          </a:p>
        </p:txBody>
      </p:sp>
      <p:sp>
        <p:nvSpPr>
          <p:cNvPr id="8" name="essential-note">
            <a:extLst xmlns:a="http://schemas.openxmlformats.org/drawingml/2006/main">
              <a:ext uri="{FF2B5EF4-FFF2-40B4-BE49-F238E27FC236}">
                <a16:creationId xmlns:a16="http://schemas.microsoft.com/office/drawing/2014/main" id="{0365EBDA-F6B1-401F-9642-40A6851CA796}"/>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No uploaded program or unrestricted mathematical expression is executed.</a:t>
            </a:r>
          </a:p>
        </p:txBody>
      </p:sp>
    </p:spTree>
    <p:extLst>
      <p:ext uri="{BB962C8B-B14F-4D97-AF65-F5344CB8AC3E}">
        <p14:creationId xmlns:p14="http://schemas.microsoft.com/office/powerpoint/2010/main" val="1574247011"/>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62948469-4031-41A6-936D-6FE1BEAEF73D}"/>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07</a:t>
            </a:r>
          </a:p>
        </p:txBody>
      </p:sp>
      <p:sp>
        <p:nvSpPr>
          <p:cNvPr id="3" name="title">
            <a:extLst xmlns:a="http://schemas.openxmlformats.org/drawingml/2006/main">
              <a:ext uri="{FF2B5EF4-FFF2-40B4-BE49-F238E27FC236}">
                <a16:creationId xmlns:a16="http://schemas.microsoft.com/office/drawing/2014/main" id="{852B38AD-9735-49FF-A916-CFB9DEC387AF}"/>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Regression</a:t>
            </a:r>
          </a:p>
        </p:txBody>
      </p:sp>
      <p:sp>
        <p:nvSpPr>
          <p:cNvPr id="4" name="section-0">
            <a:extLst xmlns:a="http://schemas.openxmlformats.org/drawingml/2006/main">
              <a:ext uri="{FF2B5EF4-FFF2-40B4-BE49-F238E27FC236}">
                <a16:creationId xmlns:a16="http://schemas.microsoft.com/office/drawing/2014/main" id="{B93B1A67-0BF3-4C5F-958A-0FD4C37640A4}"/>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The method</a:t>
            </a:r>
          </a:p>
        </p:txBody>
      </p:sp>
      <p:sp>
        <p:nvSpPr>
          <p:cNvPr id="5" name="body-0">
            <a:extLst xmlns:a="http://schemas.openxmlformats.org/drawingml/2006/main">
              <a:ext uri="{FF2B5EF4-FFF2-40B4-BE49-F238E27FC236}">
                <a16:creationId xmlns:a16="http://schemas.microsoft.com/office/drawing/2014/main" id="{65693F1A-FCDB-4FD5-BA55-A3EB627D1847}"/>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Linear, quadratic, and cubic models fit one numeric feature. A fixed-seed shuffle creates the train/test split. Mean and scale come only from training rows. Householder QR solves the least-squares problem.</a:t>
            </a:r>
          </a:p>
        </p:txBody>
      </p:sp>
      <p:sp>
        <p:nvSpPr>
          <p:cNvPr id="6" name="section-1">
            <a:extLst xmlns:a="http://schemas.openxmlformats.org/drawingml/2006/main">
              <a:ext uri="{FF2B5EF4-FFF2-40B4-BE49-F238E27FC236}">
                <a16:creationId xmlns:a16="http://schemas.microsoft.com/office/drawing/2014/main" id="{F73958A3-7D9C-4B8C-9C06-6C880810A6AB}"/>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The evidence</a:t>
            </a:r>
          </a:p>
        </p:txBody>
      </p:sp>
      <p:sp>
        <p:nvSpPr>
          <p:cNvPr id="7" name="body-1">
            <a:extLst xmlns:a="http://schemas.openxmlformats.org/drawingml/2006/main">
              <a:ext uri="{FF2B5EF4-FFF2-40B4-BE49-F238E27FC236}">
                <a16:creationId xmlns:a16="http://schemas.microsoft.com/office/drawing/2014/main" id="{2CEF0CD5-0C50-4960-A44C-6A21BFCA40DB}"/>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Held-out MAE, MSE, RMSE, and R-squared describe test errors. Users can inspect predictions, residual plots, and coefficients in standardized coordinates. Comparison keeps the same split across degrees.</a:t>
            </a:r>
          </a:p>
        </p:txBody>
      </p:sp>
      <p:sp>
        <p:nvSpPr>
          <p:cNvPr id="8" name="essential-note">
            <a:extLst xmlns:a="http://schemas.openxmlformats.org/drawingml/2006/main">
              <a:ext uri="{FF2B5EF4-FFF2-40B4-BE49-F238E27FC236}">
                <a16:creationId xmlns:a16="http://schemas.microsoft.com/office/drawing/2014/main" id="{86F22EEC-07EE-4A4B-9D81-7BD3F2774C52}"/>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Choosing a model repeatedly from test scores reuses test information. Separate validation is still needed.</a:t>
            </a:r>
          </a:p>
        </p:txBody>
      </p:sp>
    </p:spTree>
    <p:extLst>
      <p:ext uri="{BB962C8B-B14F-4D97-AF65-F5344CB8AC3E}">
        <p14:creationId xmlns:p14="http://schemas.microsoft.com/office/powerpoint/2010/main" val="2141065233"/>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470CC0B6-EFDA-4282-AE34-D8B81C25B0A7}"/>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08</a:t>
            </a:r>
          </a:p>
        </p:txBody>
      </p:sp>
      <p:sp>
        <p:nvSpPr>
          <p:cNvPr id="3" name="title">
            <a:extLst xmlns:a="http://schemas.openxmlformats.org/drawingml/2006/main">
              <a:ext uri="{FF2B5EF4-FFF2-40B4-BE49-F238E27FC236}">
                <a16:creationId xmlns:a16="http://schemas.microsoft.com/office/drawing/2014/main" id="{E22DCEF9-F841-4B2C-A722-6CDE40C8B4CD}"/>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Binary classification</a:t>
            </a:r>
          </a:p>
        </p:txBody>
      </p:sp>
      <p:sp>
        <p:nvSpPr>
          <p:cNvPr id="4" name="section-0">
            <a:extLst xmlns:a="http://schemas.openxmlformats.org/drawingml/2006/main">
              <a:ext uri="{FF2B5EF4-FFF2-40B4-BE49-F238E27FC236}">
                <a16:creationId xmlns:a16="http://schemas.microsoft.com/office/drawing/2014/main" id="{38F18C9D-DCFF-4127-9297-8460FCC11B4B}"/>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Logistic regression</a:t>
            </a:r>
          </a:p>
        </p:txBody>
      </p:sp>
      <p:sp>
        <p:nvSpPr>
          <p:cNvPr id="5" name="body-0">
            <a:extLst xmlns:a="http://schemas.openxmlformats.org/drawingml/2006/main">
              <a:ext uri="{FF2B5EF4-FFF2-40B4-BE49-F238E27FC236}">
                <a16:creationId xmlns:a16="http://schemas.microsoft.com/office/drawing/2014/main" id="{95FD9551-8C37-4FB4-A612-CFBBEB711255}"/>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A sigmoid converts a linear score into a probability. Full-batch gradient descent minimizes penalized cross-entropy. Stratified splitting preserves both binary classes, and scaling uses training data only.</a:t>
            </a:r>
          </a:p>
        </p:txBody>
      </p:sp>
      <p:sp>
        <p:nvSpPr>
          <p:cNvPr id="6" name="section-1">
            <a:extLst xmlns:a="http://schemas.openxmlformats.org/drawingml/2006/main">
              <a:ext uri="{FF2B5EF4-FFF2-40B4-BE49-F238E27FC236}">
                <a16:creationId xmlns:a16="http://schemas.microsoft.com/office/drawing/2014/main" id="{01FC5C1A-5285-4277-955A-857CBB9E9332}"/>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Evaluation and interpretation</a:t>
            </a:r>
          </a:p>
        </p:txBody>
      </p:sp>
      <p:sp>
        <p:nvSpPr>
          <p:cNvPr id="7" name="body-1">
            <a:extLst xmlns:a="http://schemas.openxmlformats.org/drawingml/2006/main">
              <a:ext uri="{FF2B5EF4-FFF2-40B4-BE49-F238E27FC236}">
                <a16:creationId xmlns:a16="http://schemas.microsoft.com/office/drawing/2014/main" id="{13E00E92-9102-4A07-924B-FE96ED576605}"/>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A threshold turns probabilities into labels. The lab reports a confusion matrix, precision, recall, F1, ROC-AUC, Brier score, log-loss, and a majority baseline. A weight changes log-odds in standardized coordinates.</a:t>
            </a:r>
          </a:p>
        </p:txBody>
      </p:sp>
      <p:sp>
        <p:nvSpPr>
          <p:cNvPr id="8" name="essential-note">
            <a:extLst xmlns:a="http://schemas.openxmlformats.org/drawingml/2006/main">
              <a:ext uri="{FF2B5EF4-FFF2-40B4-BE49-F238E27FC236}">
                <a16:creationId xmlns:a16="http://schemas.microsoft.com/office/drawing/2014/main" id="{FD99A09B-1653-4515-BD21-307AC234BC79}"/>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Probabilities are not guaranteed to be calibrated. Associations do not establish causation.</a:t>
            </a:r>
          </a:p>
        </p:txBody>
      </p:sp>
    </p:spTree>
    <p:extLst>
      <p:ext uri="{BB962C8B-B14F-4D97-AF65-F5344CB8AC3E}">
        <p14:creationId xmlns:p14="http://schemas.microsoft.com/office/powerpoint/2010/main" val="2139738298"/>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0524E534-95F1-40F8-9A74-F947D9AC4A2C}"/>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09</a:t>
            </a:r>
          </a:p>
        </p:txBody>
      </p:sp>
      <p:sp>
        <p:nvSpPr>
          <p:cNvPr id="3" name="title">
            <a:extLst xmlns:a="http://schemas.openxmlformats.org/drawingml/2006/main">
              <a:ext uri="{FF2B5EF4-FFF2-40B4-BE49-F238E27FC236}">
                <a16:creationId xmlns:a16="http://schemas.microsoft.com/office/drawing/2014/main" id="{E0DA6685-AE1C-43B0-B6C5-1F4A94BB5CFA}"/>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Clustering and PCA</a:t>
            </a:r>
          </a:p>
        </p:txBody>
      </p:sp>
      <p:sp>
        <p:nvSpPr>
          <p:cNvPr id="4" name="section-0">
            <a:extLst xmlns:a="http://schemas.openxmlformats.org/drawingml/2006/main">
              <a:ext uri="{FF2B5EF4-FFF2-40B4-BE49-F238E27FC236}">
                <a16:creationId xmlns:a16="http://schemas.microsoft.com/office/drawing/2014/main" id="{C61BD82A-9DC0-4885-A61E-E6509E3B039F}"/>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K-means</a:t>
            </a:r>
          </a:p>
        </p:txBody>
      </p:sp>
      <p:sp>
        <p:nvSpPr>
          <p:cNvPr id="5" name="body-0">
            <a:extLst xmlns:a="http://schemas.openxmlformats.org/drawingml/2006/main">
              <a:ext uri="{FF2B5EF4-FFF2-40B4-BE49-F238E27FC236}">
                <a16:creationId xmlns:a16="http://schemas.microsoft.com/office/drawing/2014/main" id="{B413ED29-D6FB-46DB-A38D-22143C2BD84A}"/>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Two-feature observations alternate between nearest-centroid assignment and centroid means. Five deterministic initializations reduce initialization dependence. Inertia and silhouette describe the resulting geometry.</a:t>
            </a:r>
          </a:p>
        </p:txBody>
      </p:sp>
      <p:sp>
        <p:nvSpPr>
          <p:cNvPr id="6" name="section-1">
            <a:extLst xmlns:a="http://schemas.openxmlformats.org/drawingml/2006/main">
              <a:ext uri="{FF2B5EF4-FFF2-40B4-BE49-F238E27FC236}">
                <a16:creationId xmlns:a16="http://schemas.microsoft.com/office/drawing/2014/main" id="{2CFB9EE7-A868-45D9-B032-C3A1E243451B}"/>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Principal components</a:t>
            </a:r>
          </a:p>
        </p:txBody>
      </p:sp>
      <p:sp>
        <p:nvSpPr>
          <p:cNvPr id="7" name="body-1">
            <a:extLst xmlns:a="http://schemas.openxmlformats.org/drawingml/2006/main">
              <a:ext uri="{FF2B5EF4-FFF2-40B4-BE49-F238E27FC236}">
                <a16:creationId xmlns:a16="http://schemas.microsoft.com/office/drawing/2014/main" id="{7EBA1724-38F4-46DD-A5AE-60A774358199}"/>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PCA centers data, optionally standardizes features, and diagonalizes a two-by-two sample covariance matrix. Component scores and variance ratios show the projection. Rank-one reconstruction exposes discarded information.</a:t>
            </a:r>
          </a:p>
        </p:txBody>
      </p:sp>
      <p:sp>
        <p:nvSpPr>
          <p:cNvPr id="8" name="essential-note">
            <a:extLst xmlns:a="http://schemas.openxmlformats.org/drawingml/2006/main">
              <a:ext uri="{FF2B5EF4-FFF2-40B4-BE49-F238E27FC236}">
                <a16:creationId xmlns:a16="http://schemas.microsoft.com/office/drawing/2014/main" id="{6A2E0F1C-A632-4A15-ADEF-3A3590F5D0F9}"/>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These are descriptive analyses of the supplied data, not held-out classification accuracy.</a:t>
            </a:r>
          </a:p>
        </p:txBody>
      </p:sp>
    </p:spTree>
    <p:extLst>
      <p:ext uri="{BB962C8B-B14F-4D97-AF65-F5344CB8AC3E}">
        <p14:creationId xmlns:p14="http://schemas.microsoft.com/office/powerpoint/2010/main" val="1677882311"/>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CB1D6E48-4949-444A-A304-8D648721BD4C}"/>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10</a:t>
            </a:r>
          </a:p>
        </p:txBody>
      </p:sp>
      <p:sp>
        <p:nvSpPr>
          <p:cNvPr id="3" name="title">
            <a:extLst xmlns:a="http://schemas.openxmlformats.org/drawingml/2006/main">
              <a:ext uri="{FF2B5EF4-FFF2-40B4-BE49-F238E27FC236}">
                <a16:creationId xmlns:a16="http://schemas.microsoft.com/office/drawing/2014/main" id="{9B919724-B8A1-4A48-B9EC-38E7AC381510}"/>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The mathematical workbench</a:t>
            </a:r>
          </a:p>
        </p:txBody>
      </p:sp>
      <p:sp>
        <p:nvSpPr>
          <p:cNvPr id="4" name="section-0">
            <a:extLst xmlns:a="http://schemas.openxmlformats.org/drawingml/2006/main">
              <a:ext uri="{FF2B5EF4-FFF2-40B4-BE49-F238E27FC236}">
                <a16:creationId xmlns:a16="http://schemas.microsoft.com/office/drawing/2014/main" id="{96571A12-8A3A-4203-B1E5-F547D126A6B4}"/>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Algebra and calculus</a:t>
            </a:r>
          </a:p>
        </p:txBody>
      </p:sp>
      <p:sp>
        <p:nvSpPr>
          <p:cNvPr id="5" name="body-0">
            <a:extLst xmlns:a="http://schemas.openxmlformats.org/drawingml/2006/main">
              <a:ext uri="{FF2B5EF4-FFF2-40B4-BE49-F238E27FC236}">
                <a16:creationId xmlns:a16="http://schemas.microsoft.com/office/drawing/2014/main" id="{B1AD7DA2-D2AB-4B50-9E5C-4B53F0675192}"/>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Polynomial simplification, derivatives, and antiderivatives</a:t>
            </a:r>
          </a:p>
          <a:p xmlns:a="http://schemas.openxmlformats.org/drawingml/2006/main">
            <a:pPr>
              <a:defRPr sz="1800">
                <a:solidFill>
                  <a:srgbClr val="A6A9AD"/>
                </a:solidFill>
              </a:defRPr>
            </a:pPr>
            <a:r>
              <a:rPr sz="1800">
                <a:solidFill>
                  <a:srgbClr val="A6A9AD"/>
                </a:solidFill>
              </a:rPr>
              <a:t>Real linear and quadratic roots</a:t>
            </a:r>
          </a:p>
          <a:p xmlns:a="http://schemas.openxmlformats.org/drawingml/2006/main">
            <a:pPr>
              <a:defRPr sz="1800">
                <a:solidFill>
                  <a:srgbClr val="A6A9AD"/>
                </a:solidFill>
              </a:defRPr>
            </a:pPr>
            <a:r>
              <a:rPr sz="1800">
                <a:solidFill>
                  <a:srgbClr val="A6A9AD"/>
                </a:solidFill>
              </a:rPr>
              <a:t>Bisection with a sign-changing bracket and interval error bound</a:t>
            </a:r>
          </a:p>
          <a:p xmlns:a="http://schemas.openxmlformats.org/drawingml/2006/main">
            <a:pPr>
              <a:defRPr sz="1800">
                <a:solidFill>
                  <a:srgbClr val="A6A9AD"/>
                </a:solidFill>
              </a:defRPr>
            </a:pPr>
            <a:r>
              <a:rPr sz="1800">
                <a:solidFill>
                  <a:srgbClr val="A6A9AD"/>
                </a:solidFill>
              </a:rPr>
              <a:t>Definite polynomial integrals</a:t>
            </a:r>
          </a:p>
        </p:txBody>
      </p:sp>
      <p:sp>
        <p:nvSpPr>
          <p:cNvPr id="6" name="section-1">
            <a:extLst xmlns:a="http://schemas.openxmlformats.org/drawingml/2006/main">
              <a:ext uri="{FF2B5EF4-FFF2-40B4-BE49-F238E27FC236}">
                <a16:creationId xmlns:a16="http://schemas.microsoft.com/office/drawing/2014/main" id="{7D27B4CB-1B61-4665-A62D-901426FABCE6}"/>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Linear algebra and statistics</a:t>
            </a:r>
          </a:p>
        </p:txBody>
      </p:sp>
      <p:sp>
        <p:nvSpPr>
          <p:cNvPr id="7" name="body-1">
            <a:extLst xmlns:a="http://schemas.openxmlformats.org/drawingml/2006/main">
              <a:ext uri="{FF2B5EF4-FFF2-40B4-BE49-F238E27FC236}">
                <a16:creationId xmlns:a16="http://schemas.microsoft.com/office/drawing/2014/main" id="{A4623B04-890E-4DB9-BC52-B59D575F14A6}"/>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Matrix transpose and multiplication</a:t>
            </a:r>
          </a:p>
          <a:p xmlns:a="http://schemas.openxmlformats.org/drawingml/2006/main">
            <a:pPr>
              <a:defRPr sz="1800">
                <a:solidFill>
                  <a:srgbClr val="A6A9AD"/>
                </a:solidFill>
              </a:defRPr>
            </a:pPr>
            <a:r>
              <a:rPr sz="1800">
                <a:solidFill>
                  <a:srgbClr val="A6A9AD"/>
                </a:solidFill>
              </a:rPr>
              <a:t>Determinants, inverses, and AX = B up to 6 by 6</a:t>
            </a:r>
          </a:p>
          <a:p xmlns:a="http://schemas.openxmlformats.org/drawingml/2006/main">
            <a:pPr>
              <a:defRPr sz="1800">
                <a:solidFill>
                  <a:srgbClr val="A6A9AD"/>
                </a:solidFill>
              </a:defRPr>
            </a:pPr>
            <a:r>
              <a:rPr sz="1800">
                <a:solidFill>
                  <a:srgbClr val="A6A9AD"/>
                </a:solidFill>
              </a:rPr>
              <a:t>Means, medians, interpolated quartiles, sample variance, and standard deviation</a:t>
            </a:r>
          </a:p>
          <a:p xmlns:a="http://schemas.openxmlformats.org/drawingml/2006/main">
            <a:pPr>
              <a:defRPr sz="1800">
                <a:solidFill>
                  <a:srgbClr val="A6A9AD"/>
                </a:solidFill>
              </a:defRPr>
            </a:pPr>
            <a:r>
              <a:rPr sz="1800">
                <a:solidFill>
                  <a:srgbClr val="A6A9AD"/>
                </a:solidFill>
              </a:rPr>
              <a:t>Pearson correlation with constant-column handling</a:t>
            </a:r>
          </a:p>
        </p:txBody>
      </p:sp>
    </p:spTree>
    <p:extLst>
      <p:ext uri="{BB962C8B-B14F-4D97-AF65-F5344CB8AC3E}">
        <p14:creationId xmlns:p14="http://schemas.microsoft.com/office/powerpoint/2010/main" val="1565152140"/>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7A0601C0-AF38-4D4D-945E-CD9E0B926365}"/>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11</a:t>
            </a:r>
          </a:p>
        </p:txBody>
      </p:sp>
      <p:sp>
        <p:nvSpPr>
          <p:cNvPr id="3" name="title">
            <a:extLst xmlns:a="http://schemas.openxmlformats.org/drawingml/2006/main">
              <a:ext uri="{FF2B5EF4-FFF2-40B4-BE49-F238E27FC236}">
                <a16:creationId xmlns:a16="http://schemas.microsoft.com/office/drawing/2014/main" id="{71759ADC-D7AA-4C7E-BA86-451D6BF97D3F}"/>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A worked matrix example</a:t>
            </a:r>
          </a:p>
        </p:txBody>
      </p:sp>
      <p:sp>
        <p:nvSpPr>
          <p:cNvPr id="4" name="section-0">
            <a:extLst xmlns:a="http://schemas.openxmlformats.org/drawingml/2006/main">
              <a:ext uri="{FF2B5EF4-FFF2-40B4-BE49-F238E27FC236}">
                <a16:creationId xmlns:a16="http://schemas.microsoft.com/office/drawing/2014/main" id="{6ECABA0C-DB33-412C-A2BE-6A844541C2AB}"/>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Problem</a:t>
            </a:r>
          </a:p>
        </p:txBody>
      </p:sp>
      <p:sp>
        <p:nvSpPr>
          <p:cNvPr id="5" name="body-0">
            <a:extLst xmlns:a="http://schemas.openxmlformats.org/drawingml/2006/main">
              <a:ext uri="{FF2B5EF4-FFF2-40B4-BE49-F238E27FC236}">
                <a16:creationId xmlns:a16="http://schemas.microsoft.com/office/drawing/2014/main" id="{6700A644-C90F-464E-A390-04CC5F784E73}"/>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A = [[4, 2], [1, 3]]</a:t>
            </a:r>
          </a:p>
          <a:p xmlns:a="http://schemas.openxmlformats.org/drawingml/2006/main">
            <a:pPr>
              <a:defRPr sz="1800">
                <a:solidFill>
                  <a:srgbClr val="A6A9AD"/>
                </a:solidFill>
              </a:defRPr>
            </a:pPr>
            <a:r>
              <a:rPr sz="1800">
                <a:solidFill>
                  <a:srgbClr val="A6A9AD"/>
                </a:solidFill>
              </a:rPr>
              <a:t>B = [[8], [7]]</a:t>
            </a:r>
          </a:p>
          <a:p xmlns:a="http://schemas.openxmlformats.org/drawingml/2006/main">
            <a:pPr>
              <a:defRPr sz="1800">
                <a:solidFill>
                  <a:srgbClr val="A6A9AD"/>
                </a:solidFill>
              </a:defRPr>
            </a:pPr>
            <a:r>
              <a:rPr sz="1800">
                <a:solidFill>
                  <a:srgbClr val="A6A9AD"/>
                </a:solidFill>
              </a:rPr>
              <a:t>Solve AX = B.</a:t>
            </a:r>
          </a:p>
          <a:p xmlns:a="http://schemas.openxmlformats.org/drawingml/2006/main">
            <a:pPr>
              <a:defRPr sz="1800">
                <a:solidFill>
                  <a:srgbClr val="A6A9AD"/>
                </a:solidFill>
              </a:defRPr>
            </a:pPr>
            <a:r>
              <a:rPr sz="1800">
                <a:solidFill>
                  <a:srgbClr val="A6A9AD"/>
                </a:solidFill>
              </a:rPr>
              <a:t>The system is 4x + 2y = 8 and x + 3y = 7.</a:t>
            </a:r>
          </a:p>
        </p:txBody>
      </p:sp>
      <p:sp>
        <p:nvSpPr>
          <p:cNvPr id="6" name="section-1">
            <a:extLst xmlns:a="http://schemas.openxmlformats.org/drawingml/2006/main">
              <a:ext uri="{FF2B5EF4-FFF2-40B4-BE49-F238E27FC236}">
                <a16:creationId xmlns:a16="http://schemas.microsoft.com/office/drawing/2014/main" id="{9D5A43FB-313D-44F6-99B5-F46F6EA6BEFB}"/>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Result and check</a:t>
            </a:r>
          </a:p>
        </p:txBody>
      </p:sp>
      <p:sp>
        <p:nvSpPr>
          <p:cNvPr id="7" name="body-1">
            <a:extLst xmlns:a="http://schemas.openxmlformats.org/drawingml/2006/main">
              <a:ext uri="{FF2B5EF4-FFF2-40B4-BE49-F238E27FC236}">
                <a16:creationId xmlns:a16="http://schemas.microsoft.com/office/drawing/2014/main" id="{AACFE63E-B2C2-4D31-ACA7-86E2A14191C3}"/>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The solution is x = 1, y = 2.</a:t>
            </a:r>
          </a:p>
          <a:p xmlns:a="http://schemas.openxmlformats.org/drawingml/2006/main">
            <a:pPr>
              <a:defRPr sz="1800">
                <a:solidFill>
                  <a:srgbClr val="A6A9AD"/>
                </a:solidFill>
              </a:defRPr>
            </a:pPr>
            <a:r>
              <a:rPr sz="1800">
                <a:solidFill>
                  <a:srgbClr val="A6A9AD"/>
                </a:solidFill>
              </a:rPr>
              <a:t>Substitution gives 4 + 4 = 8 and 1 + 6 = 7.</a:t>
            </a:r>
          </a:p>
          <a:p xmlns:a="http://schemas.openxmlformats.org/drawingml/2006/main">
            <a:pPr>
              <a:defRPr sz="1800">
                <a:solidFill>
                  <a:srgbClr val="A6A9AD"/>
                </a:solidFill>
              </a:defRPr>
            </a:pPr>
            <a:r>
              <a:rPr sz="1800">
                <a:solidFill>
                  <a:srgbClr val="A6A9AD"/>
                </a:solidFill>
              </a:rPr>
              <a:t>The algorithm uses partial pivoting and reports a residual.</a:t>
            </a:r>
          </a:p>
          <a:p xmlns:a="http://schemas.openxmlformats.org/drawingml/2006/main">
            <a:pPr>
              <a:defRPr sz="1800">
                <a:solidFill>
                  <a:srgbClr val="A6A9AD"/>
                </a:solidFill>
              </a:defRPr>
            </a:pPr>
            <a:r>
              <a:rPr sz="1800">
                <a:solidFill>
                  <a:srgbClr val="A6A9AD"/>
                </a:solidFill>
              </a:rPr>
              <a:t>The determinant is 10, so this fixture is nonsingular.</a:t>
            </a:r>
          </a:p>
        </p:txBody>
      </p:sp>
    </p:spTree>
    <p:extLst>
      <p:ext uri="{BB962C8B-B14F-4D97-AF65-F5344CB8AC3E}">
        <p14:creationId xmlns:p14="http://schemas.microsoft.com/office/powerpoint/2010/main" val="232301929"/>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425D2EE0-0308-417E-9E1A-35B341EB9988}"/>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12</a:t>
            </a:r>
          </a:p>
        </p:txBody>
      </p:sp>
      <p:sp>
        <p:nvSpPr>
          <p:cNvPr id="3" name="title">
            <a:extLst xmlns:a="http://schemas.openxmlformats.org/drawingml/2006/main">
              <a:ext uri="{FF2B5EF4-FFF2-40B4-BE49-F238E27FC236}">
                <a16:creationId xmlns:a16="http://schemas.microsoft.com/office/drawing/2014/main" id="{727C23DA-CEB0-4947-8906-7B543214C190}"/>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Research and scientific integrity</a:t>
            </a:r>
          </a:p>
        </p:txBody>
      </p:sp>
      <p:sp>
        <p:nvSpPr>
          <p:cNvPr id="4" name="section-0">
            <a:extLst xmlns:a="http://schemas.openxmlformats.org/drawingml/2006/main">
              <a:ext uri="{FF2B5EF4-FFF2-40B4-BE49-F238E27FC236}">
                <a16:creationId xmlns:a16="http://schemas.microsoft.com/office/drawing/2014/main" id="{0DACA4E9-723E-4851-A687-D550FB6DF5AE}"/>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Where records come from</a:t>
            </a:r>
          </a:p>
        </p:txBody>
      </p:sp>
      <p:sp>
        <p:nvSpPr>
          <p:cNvPr id="5" name="body-0">
            <a:extLst xmlns:a="http://schemas.openxmlformats.org/drawingml/2006/main">
              <a:ext uri="{FF2B5EF4-FFF2-40B4-BE49-F238E27FC236}">
                <a16:creationId xmlns:a16="http://schemas.microsoft.com/office/drawing/2014/main" id="{BDE615C1-92E1-43C4-9A78-14BE945ECCC0}"/>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The curated collection links to arXiv, the International Mathematical Union, Clay Mathematics Institute, and historical references. A bounded arXiv API adapter retrieves recent submissions by category and page.</a:t>
            </a:r>
          </a:p>
        </p:txBody>
      </p:sp>
      <p:sp>
        <p:nvSpPr>
          <p:cNvPr id="6" name="section-1">
            <a:extLst xmlns:a="http://schemas.openxmlformats.org/drawingml/2006/main">
              <a:ext uri="{FF2B5EF4-FFF2-40B4-BE49-F238E27FC236}">
                <a16:creationId xmlns:a16="http://schemas.microsoft.com/office/drawing/2014/main" id="{D9DE31AF-B013-4099-B2C6-A69588BC4BEC}"/>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How uncertainty appears</a:t>
            </a:r>
          </a:p>
        </p:txBody>
      </p:sp>
      <p:sp>
        <p:nvSpPr>
          <p:cNvPr id="7" name="body-1">
            <a:extLst xmlns:a="http://schemas.openxmlformats.org/drawingml/2006/main">
              <a:ext uri="{FF2B5EF4-FFF2-40B4-BE49-F238E27FC236}">
                <a16:creationId xmlns:a16="http://schemas.microsoft.com/office/drawing/2014/main" id="{74D459EA-BE8F-4A17-89B6-F49AD37DF081}"/>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Preprints retain a preprint label. Publication and retrieval dates are separate. Timeouts, cache age, and unavailable providers have visible states. A numerical experiment or AI suggestion is never labeled a verified proof.</a:t>
            </a:r>
          </a:p>
        </p:txBody>
      </p:sp>
      <p:sp>
        <p:nvSpPr>
          <p:cNvPr id="8" name="essential-note">
            <a:extLst xmlns:a="http://schemas.openxmlformats.org/drawingml/2006/main">
              <a:ext uri="{FF2B5EF4-FFF2-40B4-BE49-F238E27FC236}">
                <a16:creationId xmlns:a16="http://schemas.microsoft.com/office/drawing/2014/main" id="{C3EC03D5-8841-41F4-9C56-0C3428A7D2E7}"/>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The live feed is one source. Comprehensive discovery verification and a research knowledge graph remain future work.</a:t>
            </a:r>
          </a:p>
        </p:txBody>
      </p:sp>
    </p:spTree>
    <p:extLst>
      <p:ext uri="{BB962C8B-B14F-4D97-AF65-F5344CB8AC3E}">
        <p14:creationId xmlns:p14="http://schemas.microsoft.com/office/powerpoint/2010/main" val="1488200975"/>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2C44D890-9195-46CE-98ED-B28364D8E618}"/>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13</a:t>
            </a:r>
          </a:p>
        </p:txBody>
      </p:sp>
      <p:sp>
        <p:nvSpPr>
          <p:cNvPr id="3" name="title">
            <a:extLst xmlns:a="http://schemas.openxmlformats.org/drawingml/2006/main">
              <a:ext uri="{FF2B5EF4-FFF2-40B4-BE49-F238E27FC236}">
                <a16:creationId xmlns:a16="http://schemas.microsoft.com/office/drawing/2014/main" id="{E05772F7-94D0-46B9-978B-4C12AE85E22B}"/>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Learning and progress</a:t>
            </a:r>
          </a:p>
        </p:txBody>
      </p:sp>
      <p:sp>
        <p:nvSpPr>
          <p:cNvPr id="4" name="section-0">
            <a:extLst xmlns:a="http://schemas.openxmlformats.org/drawingml/2006/main">
              <a:ext uri="{FF2B5EF4-FFF2-40B4-BE49-F238E27FC236}">
                <a16:creationId xmlns:a16="http://schemas.microsoft.com/office/drawing/2014/main" id="{BFB82755-9466-4243-A69D-F358F346B782}"/>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Lessons and puzzles</a:t>
            </a:r>
          </a:p>
        </p:txBody>
      </p:sp>
      <p:sp>
        <p:nvSpPr>
          <p:cNvPr id="5" name="body-0">
            <a:extLst xmlns:a="http://schemas.openxmlformats.org/drawingml/2006/main">
              <a:ext uri="{FF2B5EF4-FFF2-40B4-BE49-F238E27FC236}">
                <a16:creationId xmlns:a16="http://schemas.microsoft.com/office/drawing/2014/main" id="{8426D606-A58C-415C-8468-0B21ECBC0BE3}"/>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Nine lessons combine an intuitive explanation, formula, worked example, misconception, and checked exercise. Ten puzzle templates cover numbers, algebra, geometry, logic, probability, sequences, calculus, and related topics.</a:t>
            </a:r>
          </a:p>
        </p:txBody>
      </p:sp>
      <p:sp>
        <p:nvSpPr>
          <p:cNvPr id="6" name="section-1">
            <a:extLst xmlns:a="http://schemas.openxmlformats.org/drawingml/2006/main">
              <a:ext uri="{FF2B5EF4-FFF2-40B4-BE49-F238E27FC236}">
                <a16:creationId xmlns:a16="http://schemas.microsoft.com/office/drawing/2014/main" id="{9A82C7C4-BD87-475C-ABA2-ABB763E6D04E}"/>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What the browser remembers</a:t>
            </a:r>
          </a:p>
        </p:txBody>
      </p:sp>
      <p:sp>
        <p:nvSpPr>
          <p:cNvPr id="7" name="body-1">
            <a:extLst xmlns:a="http://schemas.openxmlformats.org/drawingml/2006/main">
              <a:ext uri="{FF2B5EF4-FFF2-40B4-BE49-F238E27FC236}">
                <a16:creationId xmlns:a16="http://schemas.microsoft.com/office/drawing/2014/main" id="{AEAFB3E0-2EA5-4378-AAB5-218F7E68D1F2}"/>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Puzzle progress, streaks, bookmarks, and up to twenty experiment metadata records stay in local storage. Raw uploaded datasets are not automatically persisted. Explicit result downloads may contain the supplied numeric data.</a:t>
            </a:r>
          </a:p>
        </p:txBody>
      </p:sp>
      <p:sp>
        <p:nvSpPr>
          <p:cNvPr id="8" name="essential-note">
            <a:extLst xmlns:a="http://schemas.openxmlformats.org/drawingml/2006/main">
              <a:ext uri="{FF2B5EF4-FFF2-40B4-BE49-F238E27FC236}">
                <a16:creationId xmlns:a16="http://schemas.microsoft.com/office/drawing/2014/main" id="{4DF06D8D-05D2-437B-A11E-60C620757601}"/>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Hints and full solutions support learning. Repeating a completed puzzle does not award duplicate points.</a:t>
            </a:r>
          </a:p>
        </p:txBody>
      </p:sp>
    </p:spTree>
    <p:extLst>
      <p:ext uri="{BB962C8B-B14F-4D97-AF65-F5344CB8AC3E}">
        <p14:creationId xmlns:p14="http://schemas.microsoft.com/office/powerpoint/2010/main" val="1525651998"/>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EDEABBF0-22CA-4BCA-B134-088A45F85833}"/>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14</a:t>
            </a:r>
          </a:p>
        </p:txBody>
      </p:sp>
      <p:sp>
        <p:nvSpPr>
          <p:cNvPr id="3" name="title">
            <a:extLst xmlns:a="http://schemas.openxmlformats.org/drawingml/2006/main">
              <a:ext uri="{FF2B5EF4-FFF2-40B4-BE49-F238E27FC236}">
                <a16:creationId xmlns:a16="http://schemas.microsoft.com/office/drawing/2014/main" id="{3ADD3B2F-740B-4481-9BD2-770B304B29FC}"/>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Authentication and privacy</a:t>
            </a:r>
          </a:p>
        </p:txBody>
      </p:sp>
      <p:sp>
        <p:nvSpPr>
          <p:cNvPr id="4" name="section-0">
            <a:extLst xmlns:a="http://schemas.openxmlformats.org/drawingml/2006/main">
              <a:ext uri="{FF2B5EF4-FFF2-40B4-BE49-F238E27FC236}">
                <a16:creationId xmlns:a16="http://schemas.microsoft.com/office/drawing/2014/main" id="{3FC66F9F-B561-47F1-A1C9-EB1551E05317}"/>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Optional Supabase identity</a:t>
            </a:r>
          </a:p>
        </p:txBody>
      </p:sp>
      <p:sp>
        <p:nvSpPr>
          <p:cNvPr id="5" name="body-0">
            <a:extLst xmlns:a="http://schemas.openxmlformats.org/drawingml/2006/main">
              <a:ext uri="{FF2B5EF4-FFF2-40B4-BE49-F238E27FC236}">
                <a16:creationId xmlns:a16="http://schemas.microsoft.com/office/drawing/2014/main" id="{CA1A3DE9-61A8-4F43-8846-9B204E8F8DE0}"/>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The app includes sign-in, signup, account, recovery, password update, refresh, and sign-out routes. The server verifies user identity with Supabase and stores session tokens in HttpOnly cookies. PKCE binds email confirmation to the requesting browser.</a:t>
            </a:r>
          </a:p>
        </p:txBody>
      </p:sp>
      <p:sp>
        <p:nvSpPr>
          <p:cNvPr id="6" name="section-1">
            <a:extLst xmlns:a="http://schemas.openxmlformats.org/drawingml/2006/main">
              <a:ext uri="{FF2B5EF4-FFF2-40B4-BE49-F238E27FC236}">
                <a16:creationId xmlns:a16="http://schemas.microsoft.com/office/drawing/2014/main" id="{5516E8FD-7402-436C-BF4B-C7EBA094F6AC}"/>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Owner configuration required</a:t>
            </a:r>
          </a:p>
        </p:txBody>
      </p:sp>
      <p:sp>
        <p:nvSpPr>
          <p:cNvPr id="7" name="body-1">
            <a:extLst xmlns:a="http://schemas.openxmlformats.org/drawingml/2006/main">
              <a:ext uri="{FF2B5EF4-FFF2-40B4-BE49-F238E27FC236}">
                <a16:creationId xmlns:a16="http://schemas.microsoft.com/office/drawing/2014/main" id="{B1F062FB-B760-4BF5-A838-8B2C205EDC4A}"/>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SUPABASE_URL and SUPABASE_PUBLISHABLE_KEY must be configured in Vercel. Supabase also needs the exact callback allowlist and email delivery settings. Live signup and recovery remain unverified until setup is complete.</a:t>
            </a:r>
          </a:p>
        </p:txBody>
      </p:sp>
      <p:sp>
        <p:nvSpPr>
          <p:cNvPr id="8" name="essential-note">
            <a:extLst xmlns:a="http://schemas.openxmlformats.org/drawingml/2006/main">
              <a:ext uri="{FF2B5EF4-FFF2-40B4-BE49-F238E27FC236}">
                <a16:creationId xmlns:a16="http://schemas.microsoft.com/office/drawing/2014/main" id="{EBD09201-AE17-4FAA-97D8-A1C46327B0EC}"/>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Account identity does not synchronize local puzzle progress or notebooks. Self-service account deletion is unfinished.</a:t>
            </a:r>
          </a:p>
        </p:txBody>
      </p:sp>
    </p:spTree>
    <p:extLst>
      <p:ext uri="{BB962C8B-B14F-4D97-AF65-F5344CB8AC3E}">
        <p14:creationId xmlns:p14="http://schemas.microsoft.com/office/powerpoint/2010/main" val="2321156"/>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E4A89AC7-1556-422A-8E3B-CA5D84014285}"/>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15</a:t>
            </a:r>
          </a:p>
        </p:txBody>
      </p:sp>
      <p:sp>
        <p:nvSpPr>
          <p:cNvPr id="3" name="title">
            <a:extLst xmlns:a="http://schemas.openxmlformats.org/drawingml/2006/main">
              <a:ext uri="{FF2B5EF4-FFF2-40B4-BE49-F238E27FC236}">
                <a16:creationId xmlns:a16="http://schemas.microsoft.com/office/drawing/2014/main" id="{F17E8C7E-87D1-4254-A480-AD901BEE7217}"/>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Security boundaries</a:t>
            </a:r>
          </a:p>
        </p:txBody>
      </p:sp>
      <p:sp>
        <p:nvSpPr>
          <p:cNvPr id="4" name="section-0">
            <a:extLst xmlns:a="http://schemas.openxmlformats.org/drawingml/2006/main">
              <a:ext uri="{FF2B5EF4-FFF2-40B4-BE49-F238E27FC236}">
                <a16:creationId xmlns:a16="http://schemas.microsoft.com/office/drawing/2014/main" id="{E7F0CD24-E36C-4BC0-A710-E5DD6D1B9F38}"/>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Implemented boundaries</a:t>
            </a:r>
          </a:p>
        </p:txBody>
      </p:sp>
      <p:sp>
        <p:nvSpPr>
          <p:cNvPr id="5" name="body-0">
            <a:extLst xmlns:a="http://schemas.openxmlformats.org/drawingml/2006/main">
              <a:ext uri="{FF2B5EF4-FFF2-40B4-BE49-F238E27FC236}">
                <a16:creationId xmlns:a16="http://schemas.microsoft.com/office/drawing/2014/main" id="{14FF9F98-3C6A-4FCF-A791-DE2C08C0E387}"/>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No unrestricted code evaluation</a:t>
            </a:r>
          </a:p>
          <a:p xmlns:a="http://schemas.openxmlformats.org/drawingml/2006/main">
            <a:pPr>
              <a:defRPr sz="1800">
                <a:solidFill>
                  <a:srgbClr val="A6A9AD"/>
                </a:solidFill>
              </a:defRPr>
            </a:pPr>
            <a:r>
              <a:rPr sz="1800">
                <a:solidFill>
                  <a:srgbClr val="A6A9AD"/>
                </a:solidFill>
              </a:rPr>
              <a:t>Allowlisted algorithms and bounded input sizes</a:t>
            </a:r>
          </a:p>
          <a:p xmlns:a="http://schemas.openxmlformats.org/drawingml/2006/main">
            <a:pPr>
              <a:defRPr sz="1800">
                <a:solidFill>
                  <a:srgbClr val="A6A9AD"/>
                </a:solidFill>
              </a:defRPr>
            </a:pPr>
            <a:r>
              <a:rPr sz="1800">
                <a:solidFill>
                  <a:srgbClr val="A6A9AD"/>
                </a:solidFill>
              </a:rPr>
              <a:t>Same-origin request checks and content-type validation</a:t>
            </a:r>
          </a:p>
          <a:p xmlns:a="http://schemas.openxmlformats.org/drawingml/2006/main">
            <a:pPr>
              <a:defRPr sz="1800">
                <a:solidFill>
                  <a:srgbClr val="A6A9AD"/>
                </a:solidFill>
              </a:defRPr>
            </a:pPr>
            <a:r>
              <a:rPr sz="1800">
                <a:solidFill>
                  <a:srgbClr val="A6A9AD"/>
                </a:solidFill>
              </a:rPr>
              <a:t>CSP, output escaping, and per-instance quotas</a:t>
            </a:r>
          </a:p>
          <a:p xmlns:a="http://schemas.openxmlformats.org/drawingml/2006/main">
            <a:pPr>
              <a:defRPr sz="1800">
                <a:solidFill>
                  <a:srgbClr val="A6A9AD"/>
                </a:solidFill>
              </a:defRPr>
            </a:pPr>
            <a:r>
              <a:rPr sz="1800">
                <a:solidFill>
                  <a:srgbClr val="A6A9AD"/>
                </a:solidFill>
              </a:rPr>
              <a:t>No password, token, or request-body logging</a:t>
            </a:r>
          </a:p>
        </p:txBody>
      </p:sp>
      <p:sp>
        <p:nvSpPr>
          <p:cNvPr id="6" name="section-1">
            <a:extLst xmlns:a="http://schemas.openxmlformats.org/drawingml/2006/main">
              <a:ext uri="{FF2B5EF4-FFF2-40B4-BE49-F238E27FC236}">
                <a16:creationId xmlns:a16="http://schemas.microsoft.com/office/drawing/2014/main" id="{A762BBDF-DDFF-4840-A98B-982462550DD4}"/>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Production work still needed</a:t>
            </a:r>
          </a:p>
        </p:txBody>
      </p:sp>
      <p:sp>
        <p:nvSpPr>
          <p:cNvPr id="7" name="body-1">
            <a:extLst xmlns:a="http://schemas.openxmlformats.org/drawingml/2006/main">
              <a:ext uri="{FF2B5EF4-FFF2-40B4-BE49-F238E27FC236}">
                <a16:creationId xmlns:a16="http://schemas.microsoft.com/office/drawing/2014/main" id="{2204D6E5-A24F-4B4A-B2DF-859A53C0E850}"/>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Independent security and accessibility review</a:t>
            </a:r>
          </a:p>
          <a:p xmlns:a="http://schemas.openxmlformats.org/drawingml/2006/main">
            <a:pPr>
              <a:defRPr sz="1800">
                <a:solidFill>
                  <a:srgbClr val="A6A9AD"/>
                </a:solidFill>
              </a:defRPr>
            </a:pPr>
            <a:r>
              <a:rPr sz="1800">
                <a:solidFill>
                  <a:srgbClr val="A6A9AD"/>
                </a:solidFill>
              </a:rPr>
              <a:t>Coordinated quotas across serverless instances</a:t>
            </a:r>
          </a:p>
          <a:p xmlns:a="http://schemas.openxmlformats.org/drawingml/2006/main">
            <a:pPr>
              <a:defRPr sz="1800">
                <a:solidFill>
                  <a:srgbClr val="A6A9AD"/>
                </a:solidFill>
              </a:defRPr>
            </a:pPr>
            <a:r>
              <a:rPr sz="1800">
                <a:solidFill>
                  <a:srgbClr val="A6A9AD"/>
                </a:solidFill>
              </a:rPr>
              <a:t>Broader concurrency and recovery testing</a:t>
            </a:r>
          </a:p>
          <a:p xmlns:a="http://schemas.openxmlformats.org/drawingml/2006/main">
            <a:pPr>
              <a:defRPr sz="1800">
                <a:solidFill>
                  <a:srgbClr val="A6A9AD"/>
                </a:solidFill>
              </a:defRPr>
            </a:pPr>
            <a:r>
              <a:rPr sz="1800">
                <a:solidFill>
                  <a:srgbClr val="A6A9AD"/>
                </a:solidFill>
              </a:rPr>
              <a:t>Owner privacy support and reporting channels</a:t>
            </a:r>
          </a:p>
          <a:p xmlns:a="http://schemas.openxmlformats.org/drawingml/2006/main">
            <a:pPr>
              <a:defRPr sz="1800">
                <a:solidFill>
                  <a:srgbClr val="A6A9AD"/>
                </a:solidFill>
              </a:defRPr>
            </a:pPr>
            <a:r>
              <a:rPr sz="1800">
                <a:solidFill>
                  <a:srgbClr val="A6A9AD"/>
                </a:solidFill>
              </a:rPr>
              <a:t>An explicit project license decision</a:t>
            </a:r>
          </a:p>
        </p:txBody>
      </p:sp>
    </p:spTree>
    <p:extLst>
      <p:ext uri="{BB962C8B-B14F-4D97-AF65-F5344CB8AC3E}">
        <p14:creationId xmlns:p14="http://schemas.microsoft.com/office/powerpoint/2010/main" val="487107471"/>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3FE80310-7434-4AEB-9CE8-32E35DEE01EC}"/>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16</a:t>
            </a:r>
          </a:p>
        </p:txBody>
      </p:sp>
      <p:sp>
        <p:nvSpPr>
          <p:cNvPr id="3" name="title">
            <a:extLst xmlns:a="http://schemas.openxmlformats.org/drawingml/2006/main">
              <a:ext uri="{FF2B5EF4-FFF2-40B4-BE49-F238E27FC236}">
                <a16:creationId xmlns:a16="http://schemas.microsoft.com/office/drawing/2014/main" id="{23351716-E727-4D57-8F71-C2E74DAAC560}"/>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Development and deployment</a:t>
            </a:r>
          </a:p>
        </p:txBody>
      </p:sp>
      <p:sp>
        <p:nvSpPr>
          <p:cNvPr id="4" name="section-0">
            <a:extLst xmlns:a="http://schemas.openxmlformats.org/drawingml/2006/main">
              <a:ext uri="{FF2B5EF4-FFF2-40B4-BE49-F238E27FC236}">
                <a16:creationId xmlns:a16="http://schemas.microsoft.com/office/drawing/2014/main" id="{9B11191E-D09F-4DA9-81B1-C0264E10429D}"/>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Local development</a:t>
            </a:r>
          </a:p>
        </p:txBody>
      </p:sp>
      <p:sp>
        <p:nvSpPr>
          <p:cNvPr id="5" name="body-0">
            <a:extLst xmlns:a="http://schemas.openxmlformats.org/drawingml/2006/main">
              <a:ext uri="{FF2B5EF4-FFF2-40B4-BE49-F238E27FC236}">
                <a16:creationId xmlns:a16="http://schemas.microsoft.com/office/drawing/2014/main" id="{137CB4AC-2994-4FB7-9B2B-4A6C49A4F344}"/>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Node.js 24 to 26</a:t>
            </a:r>
          </a:p>
          <a:p xmlns:a="http://schemas.openxmlformats.org/drawingml/2006/main">
            <a:pPr>
              <a:defRPr sz="1800">
                <a:solidFill>
                  <a:srgbClr val="A6A9AD"/>
                </a:solidFill>
              </a:defRPr>
            </a:pPr>
            <a:r>
              <a:rPr sz="1800">
                <a:solidFill>
                  <a:srgbClr val="A6A9AD"/>
                </a:solidFill>
              </a:rPr>
              <a:t>npm start</a:t>
            </a:r>
          </a:p>
          <a:p xmlns:a="http://schemas.openxmlformats.org/drawingml/2006/main">
            <a:pPr>
              <a:defRPr sz="1800">
                <a:solidFill>
                  <a:srgbClr val="A6A9AD"/>
                </a:solidFill>
              </a:defRPr>
            </a:pPr>
            <a:r>
              <a:rPr sz="1800">
                <a:solidFill>
                  <a:srgbClr val="A6A9AD"/>
                </a:solidFill>
              </a:rPr>
              <a:t>Open http://127.0.0.1:4173</a:t>
            </a:r>
          </a:p>
          <a:p xmlns:a="http://schemas.openxmlformats.org/drawingml/2006/main">
            <a:pPr>
              <a:defRPr sz="1800">
                <a:solidFill>
                  <a:srgbClr val="A6A9AD"/>
                </a:solidFill>
              </a:defRPr>
            </a:pPr>
            <a:r>
              <a:rPr sz="1800">
                <a:solidFill>
                  <a:srgbClr val="A6A9AD"/>
                </a:solidFill>
              </a:rPr>
              <a:t>No production npm dependencies in the web core</a:t>
            </a:r>
          </a:p>
          <a:p xmlns:a="http://schemas.openxmlformats.org/drawingml/2006/main">
            <a:pPr>
              <a:defRPr sz="1800">
                <a:solidFill>
                  <a:srgbClr val="A6A9AD"/>
                </a:solidFill>
              </a:defRPr>
            </a:pPr>
            <a:r>
              <a:rPr sz="1800">
                <a:solidFill>
                  <a:srgbClr val="A6A9AD"/>
                </a:solidFill>
              </a:rPr>
              <a:t>Optional provider variables are listed in .env.example</a:t>
            </a:r>
          </a:p>
        </p:txBody>
      </p:sp>
      <p:sp>
        <p:nvSpPr>
          <p:cNvPr id="6" name="section-1">
            <a:extLst xmlns:a="http://schemas.openxmlformats.org/drawingml/2006/main">
              <a:ext uri="{FF2B5EF4-FFF2-40B4-BE49-F238E27FC236}">
                <a16:creationId xmlns:a16="http://schemas.microsoft.com/office/drawing/2014/main" id="{E3BFFC69-55DE-4612-AA29-7FC28BACBBAD}"/>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Vercel deployment</a:t>
            </a:r>
          </a:p>
        </p:txBody>
      </p:sp>
      <p:sp>
        <p:nvSpPr>
          <p:cNvPr id="7" name="body-1">
            <a:extLst xmlns:a="http://schemas.openxmlformats.org/drawingml/2006/main">
              <a:ext uri="{FF2B5EF4-FFF2-40B4-BE49-F238E27FC236}">
                <a16:creationId xmlns:a16="http://schemas.microsoft.com/office/drawing/2014/main" id="{6C9FBFC4-448D-44D7-BF7E-CF721EA949CF}"/>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Static browser assets build into dist/public.</a:t>
            </a:r>
          </a:p>
          <a:p xmlns:a="http://schemas.openxmlformats.org/drawingml/2006/main">
            <a:pPr>
              <a:defRPr sz="1800">
                <a:solidFill>
                  <a:srgbClr val="A6A9AD"/>
                </a:solidFill>
              </a:defRPr>
            </a:pPr>
            <a:r>
              <a:rPr sz="1800">
                <a:solidFill>
                  <a:srgbClr val="A6A9AD"/>
                </a:solidFill>
              </a:rPr>
              <a:t>/api requests reach a shared Node function.</a:t>
            </a:r>
          </a:p>
          <a:p xmlns:a="http://schemas.openxmlformats.org/drawingml/2006/main">
            <a:pPr>
              <a:defRPr sz="1800">
                <a:solidFill>
                  <a:srgbClr val="A6A9AD"/>
                </a:solidFill>
              </a:defRPr>
            </a:pPr>
            <a:r>
              <a:rPr sz="1800">
                <a:solidFill>
                  <a:srgbClr val="A6A9AD"/>
                </a:solidFill>
              </a:rPr>
              <a:t>The live site is mathlens-wine.vercel.app.</a:t>
            </a:r>
          </a:p>
          <a:p xmlns:a="http://schemas.openxmlformats.org/drawingml/2006/main">
            <a:pPr>
              <a:defRPr sz="1800">
                <a:solidFill>
                  <a:srgbClr val="A6A9AD"/>
                </a:solidFill>
              </a:defRPr>
            </a:pPr>
            <a:r>
              <a:rPr sz="1800">
                <a:solidFill>
                  <a:srgbClr val="A6A9AD"/>
                </a:solidFill>
              </a:rPr>
              <a:t>Health and numerical endpoints have HTTPS smoke checks.</a:t>
            </a:r>
          </a:p>
          <a:p xmlns:a="http://schemas.openxmlformats.org/drawingml/2006/main">
            <a:pPr>
              <a:defRPr sz="1800">
                <a:solidFill>
                  <a:srgbClr val="A6A9AD"/>
                </a:solidFill>
              </a:defRPr>
            </a:pPr>
            <a:r>
              <a:rPr sz="1800">
                <a:solidFill>
                  <a:srgbClr val="A6A9AD"/>
                </a:solidFill>
              </a:rPr>
              <a:t>Native clients use this hosted service.</a:t>
            </a:r>
          </a:p>
        </p:txBody>
      </p:sp>
    </p:spTree>
    <p:extLst>
      <p:ext uri="{BB962C8B-B14F-4D97-AF65-F5344CB8AC3E}">
        <p14:creationId xmlns:p14="http://schemas.microsoft.com/office/powerpoint/2010/main" val="1943183325"/>
      </p:ext>
    </p:extLst>
  </p:cSld>
</p:sld>
</file>

<file path=ppt/slides/slide1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4D438D69-ED38-4341-9B5C-E17D74FAC159}"/>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17</a:t>
            </a:r>
          </a:p>
        </p:txBody>
      </p:sp>
      <p:sp>
        <p:nvSpPr>
          <p:cNvPr id="3" name="title">
            <a:extLst xmlns:a="http://schemas.openxmlformats.org/drawingml/2006/main">
              <a:ext uri="{FF2B5EF4-FFF2-40B4-BE49-F238E27FC236}">
                <a16:creationId xmlns:a16="http://schemas.microsoft.com/office/drawing/2014/main" id="{70BA2581-9A88-4A5B-883E-716E80C6DA8E}"/>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Verification</a:t>
            </a:r>
          </a:p>
        </p:txBody>
      </p:sp>
      <p:sp>
        <p:nvSpPr>
          <p:cNvPr id="4" name="section-0">
            <a:extLst xmlns:a="http://schemas.openxmlformats.org/drawingml/2006/main">
              <a:ext uri="{FF2B5EF4-FFF2-40B4-BE49-F238E27FC236}">
                <a16:creationId xmlns:a16="http://schemas.microsoft.com/office/drawing/2014/main" id="{7DE8D349-C972-4C81-8A12-611138F0712A}"/>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Verified numerical core</a:t>
            </a:r>
          </a:p>
        </p:txBody>
      </p:sp>
      <p:sp>
        <p:nvSpPr>
          <p:cNvPr id="5" name="body-0">
            <a:extLst xmlns:a="http://schemas.openxmlformats.org/drawingml/2006/main">
              <a:ext uri="{FF2B5EF4-FFF2-40B4-BE49-F238E27FC236}">
                <a16:creationId xmlns:a16="http://schemas.microsoft.com/office/drawing/2014/main" id="{6455C99D-6E18-49D7-87C2-508DE8031D7D}"/>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Forty-nine tests passed in the refinement pass. Fixtures check parser rejection, identities, train/test isolation, QR recovery, logistic metrics, clustering, PCA, matrix residuals, roots, statistics, and provider failures.</a:t>
            </a:r>
          </a:p>
        </p:txBody>
      </p:sp>
      <p:sp>
        <p:nvSpPr>
          <p:cNvPr id="6" name="section-1">
            <a:extLst xmlns:a="http://schemas.openxmlformats.org/drawingml/2006/main">
              <a:ext uri="{FF2B5EF4-FFF2-40B4-BE49-F238E27FC236}">
                <a16:creationId xmlns:a16="http://schemas.microsoft.com/office/drawing/2014/main" id="{566025CD-7263-46D9-BD32-BD0BC481B47F}"/>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Verification scope</a:t>
            </a:r>
          </a:p>
        </p:txBody>
      </p:sp>
      <p:sp>
        <p:nvSpPr>
          <p:cNvPr id="7" name="body-1">
            <a:extLst xmlns:a="http://schemas.openxmlformats.org/drawingml/2006/main">
              <a:ext uri="{FF2B5EF4-FFF2-40B4-BE49-F238E27FC236}">
                <a16:creationId xmlns:a16="http://schemas.microsoft.com/office/drawing/2014/main" id="{68CA07F0-1A92-40F3-BDE9-6342AB953FE1}"/>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Windows and Linux web CI plus a security scan passed for the refinement commit. Production math APIs and actual arXiv retrieval passed. New rendered views still need browser verification. Native checks are recorded separately in their build workflow.</a:t>
            </a:r>
          </a:p>
        </p:txBody>
      </p:sp>
      <p:sp>
        <p:nvSpPr>
          <p:cNvPr id="8" name="essential-note">
            <a:extLst xmlns:a="http://schemas.openxmlformats.org/drawingml/2006/main">
              <a:ext uri="{FF2B5EF4-FFF2-40B4-BE49-F238E27FC236}">
                <a16:creationId xmlns:a16="http://schemas.microsoft.com/office/drawing/2014/main" id="{23E4A3EF-0420-480E-9554-90A562D8713A}"/>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Test results describe executed checks. They do not certify every workflow or every device.</a:t>
            </a:r>
          </a:p>
        </p:txBody>
      </p:sp>
    </p:spTree>
    <p:extLst>
      <p:ext uri="{BB962C8B-B14F-4D97-AF65-F5344CB8AC3E}">
        <p14:creationId xmlns:p14="http://schemas.microsoft.com/office/powerpoint/2010/main" val="1748393485"/>
      </p:ext>
    </p:extLst>
  </p:cSld>
</p:sld>
</file>

<file path=ppt/slides/slide1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D3577318-AF93-4604-985E-3ACA695DDD40}"/>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18</a:t>
            </a:r>
          </a:p>
        </p:txBody>
      </p:sp>
      <p:sp>
        <p:nvSpPr>
          <p:cNvPr id="3" name="title">
            <a:extLst xmlns:a="http://schemas.openxmlformats.org/drawingml/2006/main">
              <a:ext uri="{FF2B5EF4-FFF2-40B4-BE49-F238E27FC236}">
                <a16:creationId xmlns:a16="http://schemas.microsoft.com/office/drawing/2014/main" id="{DFEAAE2A-5524-4CF1-841E-436F97B78DFF}"/>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Applications and releases</a:t>
            </a:r>
          </a:p>
        </p:txBody>
      </p:sp>
      <p:sp>
        <p:nvSpPr>
          <p:cNvPr id="4" name="section-0">
            <a:extLst xmlns:a="http://schemas.openxmlformats.org/drawingml/2006/main">
              <a:ext uri="{FF2B5EF4-FFF2-40B4-BE49-F238E27FC236}">
                <a16:creationId xmlns:a16="http://schemas.microsoft.com/office/drawing/2014/main" id="{9B790FD2-D534-4692-95D2-000FACD8EEEA}"/>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Desktop and Android clients</a:t>
            </a:r>
          </a:p>
        </p:txBody>
      </p:sp>
      <p:sp>
        <p:nvSpPr>
          <p:cNvPr id="5" name="body-0">
            <a:extLst xmlns:a="http://schemas.openxmlformats.org/drawingml/2006/main">
              <a:ext uri="{FF2B5EF4-FFF2-40B4-BE49-F238E27FC236}">
                <a16:creationId xmlns:a16="http://schemas.microsoft.com/office/drawing/2014/main" id="{AACF77DD-9166-416F-B0FC-DE7267014DBF}"/>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Windows packages use Electron and an unsigned installer. Linux uses an AppImage. Android uses a WebView APK with debug signing for testing. Each opens the hosted workspace and requires internet.</a:t>
            </a:r>
          </a:p>
        </p:txBody>
      </p:sp>
      <p:sp>
        <p:nvSpPr>
          <p:cNvPr id="6" name="section-1">
            <a:extLst xmlns:a="http://schemas.openxmlformats.org/drawingml/2006/main">
              <a:ext uri="{FF2B5EF4-FFF2-40B4-BE49-F238E27FC236}">
                <a16:creationId xmlns:a16="http://schemas.microsoft.com/office/drawing/2014/main" id="{A2C7576C-0238-4528-815F-6FB37FE2E299}"/>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Release gates and limits</a:t>
            </a:r>
          </a:p>
        </p:txBody>
      </p:sp>
      <p:sp>
        <p:nvSpPr>
          <p:cNvPr id="7" name="body-1">
            <a:extLst xmlns:a="http://schemas.openxmlformats.org/drawingml/2006/main">
              <a:ext uri="{FF2B5EF4-FFF2-40B4-BE49-F238E27FC236}">
                <a16:creationId xmlns:a16="http://schemas.microsoft.com/office/drawing/2014/main" id="{3317E380-56D5-4C75-A396-F40808510A8B}"/>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The native workflow must build real files and pass platform smoke checks before publication. Checksums identify the outputs. Android file exports use the browser version. Email verification should use a regular browser. iOS remains Coming Soon.</a:t>
            </a:r>
          </a:p>
        </p:txBody>
      </p:sp>
      <p:sp>
        <p:nvSpPr>
          <p:cNvPr id="8" name="essential-note">
            <a:extLst xmlns:a="http://schemas.openxmlformats.org/drawingml/2006/main">
              <a:ext uri="{FF2B5EF4-FFF2-40B4-BE49-F238E27FC236}">
                <a16:creationId xmlns:a16="http://schemas.microsoft.com/office/drawing/2014/main" id="{0F04E728-7177-40FF-B188-5FE5AD0D3B3A}"/>
              </a:ext>
            </a:extLst>
          </p:cNvPr>
          <p:cNvSpPr>
            <a:spLocks xmlns:a="http://schemas.openxmlformats.org/drawingml/2006/main" noGrp="1"/>
          </p:cNvSpPr>
          <p:nvPr/>
        </p:nvSpPr>
        <p:spPr>
          <a:xfrm xmlns:a="http://schemas.openxmlformats.org/drawingml/2006/main">
            <a:off x="685800" y="57340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a:solidFill>
                  <a:srgbClr val="B7B9BC"/>
                </a:solidFill>
              </a:defRPr>
            </a:defPPr>
            <a:lvl1pPr>
              <a:defRPr sz="1350">
                <a:solidFill>
                  <a:srgbClr val="B7B9BC"/>
                </a:solidFill>
              </a:defRPr>
            </a:lvl1pPr>
            <a:lvl2pPr>
              <a:defRPr sz="1350">
                <a:solidFill>
                  <a:srgbClr val="B7B9BC"/>
                </a:solidFill>
              </a:defRPr>
            </a:lvl2pPr>
            <a:lvl3pPr>
              <a:defRPr sz="1350">
                <a:solidFill>
                  <a:srgbClr val="B7B9BC"/>
                </a:solidFill>
              </a:defRPr>
            </a:lvl3pPr>
            <a:lvl4pPr>
              <a:defRPr sz="1350">
                <a:solidFill>
                  <a:srgbClr val="B7B9BC"/>
                </a:solidFill>
              </a:defRPr>
            </a:lvl4pPr>
            <a:lvl5pPr>
              <a:defRPr sz="1350">
                <a:solidFill>
                  <a:srgbClr val="B7B9BC"/>
                </a:solidFill>
              </a:defRPr>
            </a:lvl5pPr>
            <a:lvl6pPr>
              <a:defRPr sz="1350">
                <a:solidFill>
                  <a:srgbClr val="B7B9BC"/>
                </a:solidFill>
              </a:defRPr>
            </a:lvl6pPr>
            <a:lvl7pPr>
              <a:defRPr sz="1350">
                <a:solidFill>
                  <a:srgbClr val="B7B9BC"/>
                </a:solidFill>
              </a:defRPr>
            </a:lvl7pPr>
            <a:lvl8pPr>
              <a:defRPr sz="1350">
                <a:solidFill>
                  <a:srgbClr val="B7B9BC"/>
                </a:solidFill>
              </a:defRPr>
            </a:lvl8pPr>
            <a:lvl9pPr>
              <a:defRPr sz="1350">
                <a:solidFill>
                  <a:srgbClr val="B7B9BC"/>
                </a:solidFill>
              </a:defRPr>
            </a:lvl9pPr>
          </a:lstStyle>
          <a:p xmlns:a="http://schemas.openxmlformats.org/drawingml/2006/main">
            <a:pPr>
              <a:defRPr sz="1350">
                <a:solidFill>
                  <a:srgbClr val="B7B9BC"/>
                </a:solidFill>
              </a:defRPr>
            </a:pPr>
            <a:r>
              <a:rPr sz="1350">
                <a:solidFill>
                  <a:srgbClr val="B7B9BC"/>
                </a:solidFill>
              </a:rPr>
              <a:t>The latest GitHub release and its build receipts are the authority for current artifact availability.</a:t>
            </a:r>
          </a:p>
        </p:txBody>
      </p:sp>
    </p:spTree>
    <p:extLst>
      <p:ext uri="{BB962C8B-B14F-4D97-AF65-F5344CB8AC3E}">
        <p14:creationId xmlns:p14="http://schemas.microsoft.com/office/powerpoint/2010/main" val="437732611"/>
      </p:ext>
    </p:extLst>
  </p:cSld>
</p:sld>
</file>

<file path=ppt/slides/slide1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C68E7AD4-FDF6-4C43-A000-C0123900B30B}"/>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19</a:t>
            </a:r>
          </a:p>
        </p:txBody>
      </p:sp>
      <p:sp>
        <p:nvSpPr>
          <p:cNvPr id="3" name="title">
            <a:extLst xmlns:a="http://schemas.openxmlformats.org/drawingml/2006/main">
              <a:ext uri="{FF2B5EF4-FFF2-40B4-BE49-F238E27FC236}">
                <a16:creationId xmlns:a16="http://schemas.microsoft.com/office/drawing/2014/main" id="{38152389-4267-4288-B264-0C28EBD5A3EE}"/>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Remaining work</a:t>
            </a:r>
          </a:p>
        </p:txBody>
      </p:sp>
      <p:sp>
        <p:nvSpPr>
          <p:cNvPr id="4" name="section-0">
            <a:extLst xmlns:a="http://schemas.openxmlformats.org/drawingml/2006/main">
              <a:ext uri="{FF2B5EF4-FFF2-40B4-BE49-F238E27FC236}">
                <a16:creationId xmlns:a16="http://schemas.microsoft.com/office/drawing/2014/main" id="{DDD70EA5-1C22-426C-B7A2-673AD057877D}"/>
              </a:ext>
            </a:extLst>
          </p:cNvPr>
          <p:cNvSpPr>
            <a:spLocks xmlns:a="http://schemas.openxmlformats.org/drawingml/2006/main" noGrp="1"/>
          </p:cNvSpPr>
          <p:nvPr/>
        </p:nvSpPr>
        <p:spPr>
          <a:xfrm xmlns:a="http://schemas.openxmlformats.org/drawingml/2006/main">
            <a:off x="68580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Mathematics and models</a:t>
            </a:r>
          </a:p>
        </p:txBody>
      </p:sp>
      <p:sp>
        <p:nvSpPr>
          <p:cNvPr id="5" name="body-0">
            <a:extLst xmlns:a="http://schemas.openxmlformats.org/drawingml/2006/main">
              <a:ext uri="{FF2B5EF4-FFF2-40B4-BE49-F238E27FC236}">
                <a16:creationId xmlns:a16="http://schemas.microsoft.com/office/drawing/2014/main" id="{F825D549-20B0-4F6F-B69A-24BBF02C41A9}"/>
              </a:ext>
            </a:extLst>
          </p:cNvPr>
          <p:cNvSpPr>
            <a:spLocks xmlns:a="http://schemas.openxmlformats.org/drawingml/2006/main" noGrp="1"/>
          </p:cNvSpPr>
          <p:nvPr/>
        </p:nvSpPr>
        <p:spPr>
          <a:xfrm xmlns:a="http://schemas.openxmlformats.org/drawingml/2006/main">
            <a:off x="68580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General safe symbolic functions</a:t>
            </a:r>
          </a:p>
          <a:p xmlns:a="http://schemas.openxmlformats.org/drawingml/2006/main">
            <a:pPr>
              <a:defRPr sz="1800">
                <a:solidFill>
                  <a:srgbClr val="A6A9AD"/>
                </a:solidFill>
              </a:defRPr>
            </a:pPr>
            <a:r>
              <a:rPr sz="1800">
                <a:solidFill>
                  <a:srgbClr val="A6A9AD"/>
                </a:solidFill>
              </a:rPr>
              <a:t>Decision trees, forests, boosting, and neural networks</a:t>
            </a:r>
          </a:p>
          <a:p xmlns:a="http://schemas.openxmlformats.org/drawingml/2006/main">
            <a:pPr>
              <a:defRPr sz="1800">
                <a:solidFill>
                  <a:srgbClr val="A6A9AD"/>
                </a:solidFill>
              </a:defRPr>
            </a:pPr>
            <a:r>
              <a:rPr sz="1800">
                <a:solidFill>
                  <a:srgbClr val="A6A9AD"/>
                </a:solidFill>
              </a:rPr>
              <a:t>Validated attribution and uncertainty methods</a:t>
            </a:r>
          </a:p>
          <a:p xmlns:a="http://schemas.openxmlformats.org/drawingml/2006/main">
            <a:pPr>
              <a:defRPr sz="1800">
                <a:solidFill>
                  <a:srgbClr val="A6A9AD"/>
                </a:solidFill>
              </a:defRPr>
            </a:pPr>
            <a:r>
              <a:rPr sz="1800">
                <a:solidFill>
                  <a:srgbClr val="A6A9AD"/>
                </a:solidFill>
              </a:rPr>
              <a:t>Broader datasets and multifeature workflows</a:t>
            </a:r>
          </a:p>
        </p:txBody>
      </p:sp>
      <p:sp>
        <p:nvSpPr>
          <p:cNvPr id="6" name="section-1">
            <a:extLst xmlns:a="http://schemas.openxmlformats.org/drawingml/2006/main">
              <a:ext uri="{FF2B5EF4-FFF2-40B4-BE49-F238E27FC236}">
                <a16:creationId xmlns:a16="http://schemas.microsoft.com/office/drawing/2014/main" id="{ADA09061-64B2-4072-8F1D-FAAF620A7E21}"/>
              </a:ext>
            </a:extLst>
          </p:cNvPr>
          <p:cNvSpPr>
            <a:spLocks xmlns:a="http://schemas.openxmlformats.org/drawingml/2006/main" noGrp="1"/>
          </p:cNvSpPr>
          <p:nvPr/>
        </p:nvSpPr>
        <p:spPr>
          <a:xfrm xmlns:a="http://schemas.openxmlformats.org/drawingml/2006/main">
            <a:off x="6343650" y="1781175"/>
            <a:ext cx="5105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a:solidFill>
                  <a:srgbClr val="F2F2F2"/>
                </a:solidFill>
              </a:defRPr>
            </a:defPPr>
            <a:lvl1pPr>
              <a:defRPr sz="2175">
                <a:solidFill>
                  <a:srgbClr val="F2F2F2"/>
                </a:solidFill>
              </a:defRPr>
            </a:lvl1pPr>
            <a:lvl2pPr>
              <a:defRPr sz="2175">
                <a:solidFill>
                  <a:srgbClr val="F2F2F2"/>
                </a:solidFill>
              </a:defRPr>
            </a:lvl2pPr>
            <a:lvl3pPr>
              <a:defRPr sz="2175">
                <a:solidFill>
                  <a:srgbClr val="F2F2F2"/>
                </a:solidFill>
              </a:defRPr>
            </a:lvl3pPr>
            <a:lvl4pPr>
              <a:defRPr sz="2175">
                <a:solidFill>
                  <a:srgbClr val="F2F2F2"/>
                </a:solidFill>
              </a:defRPr>
            </a:lvl4pPr>
            <a:lvl5pPr>
              <a:defRPr sz="2175">
                <a:solidFill>
                  <a:srgbClr val="F2F2F2"/>
                </a:solidFill>
              </a:defRPr>
            </a:lvl5pPr>
            <a:lvl6pPr>
              <a:defRPr sz="2175">
                <a:solidFill>
                  <a:srgbClr val="F2F2F2"/>
                </a:solidFill>
              </a:defRPr>
            </a:lvl6pPr>
            <a:lvl7pPr>
              <a:defRPr sz="2175">
                <a:solidFill>
                  <a:srgbClr val="F2F2F2"/>
                </a:solidFill>
              </a:defRPr>
            </a:lvl7pPr>
            <a:lvl8pPr>
              <a:defRPr sz="2175">
                <a:solidFill>
                  <a:srgbClr val="F2F2F2"/>
                </a:solidFill>
              </a:defRPr>
            </a:lvl8pPr>
            <a:lvl9pPr>
              <a:defRPr sz="2175">
                <a:solidFill>
                  <a:srgbClr val="F2F2F2"/>
                </a:solidFill>
              </a:defRPr>
            </a:lvl9pPr>
          </a:lstStyle>
          <a:p xmlns:a="http://schemas.openxmlformats.org/drawingml/2006/main">
            <a:pPr>
              <a:defRPr sz="2175">
                <a:solidFill>
                  <a:srgbClr val="F2F2F2"/>
                </a:solidFill>
              </a:defRPr>
            </a:pPr>
            <a:r>
              <a:rPr sz="2175">
                <a:solidFill>
                  <a:srgbClr val="F2F2F2"/>
                </a:solidFill>
              </a:rPr>
              <a:t>Platform maturity</a:t>
            </a:r>
          </a:p>
        </p:txBody>
      </p:sp>
      <p:sp>
        <p:nvSpPr>
          <p:cNvPr id="7" name="body-1">
            <a:extLst xmlns:a="http://schemas.openxmlformats.org/drawingml/2006/main">
              <a:ext uri="{FF2B5EF4-FFF2-40B4-BE49-F238E27FC236}">
                <a16:creationId xmlns:a16="http://schemas.microsoft.com/office/drawing/2014/main" id="{DD9794BF-C3CF-4808-8123-C44B125C9CF0}"/>
              </a:ext>
            </a:extLst>
          </p:cNvPr>
          <p:cNvSpPr>
            <a:spLocks xmlns:a="http://schemas.openxmlformats.org/drawingml/2006/main" noGrp="1"/>
          </p:cNvSpPr>
          <p:nvPr/>
        </p:nvSpPr>
        <p:spPr>
          <a:xfrm xmlns:a="http://schemas.openxmlformats.org/drawingml/2006/main">
            <a:off x="6343650" y="2600325"/>
            <a:ext cx="50292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a:solidFill>
                  <a:srgbClr val="A6A9AD"/>
                </a:solidFill>
              </a:defRPr>
            </a:defPPr>
            <a:lvl1pPr>
              <a:defRPr sz="1800">
                <a:solidFill>
                  <a:srgbClr val="A6A9AD"/>
                </a:solidFill>
              </a:defRPr>
            </a:lvl1pPr>
            <a:lvl2pPr>
              <a:defRPr sz="1800">
                <a:solidFill>
                  <a:srgbClr val="A6A9AD"/>
                </a:solidFill>
              </a:defRPr>
            </a:lvl2pPr>
            <a:lvl3pPr>
              <a:defRPr sz="1800">
                <a:solidFill>
                  <a:srgbClr val="A6A9AD"/>
                </a:solidFill>
              </a:defRPr>
            </a:lvl3pPr>
            <a:lvl4pPr>
              <a:defRPr sz="1800">
                <a:solidFill>
                  <a:srgbClr val="A6A9AD"/>
                </a:solidFill>
              </a:defRPr>
            </a:lvl4pPr>
            <a:lvl5pPr>
              <a:defRPr sz="1800">
                <a:solidFill>
                  <a:srgbClr val="A6A9AD"/>
                </a:solidFill>
              </a:defRPr>
            </a:lvl5pPr>
            <a:lvl6pPr>
              <a:defRPr sz="1800">
                <a:solidFill>
                  <a:srgbClr val="A6A9AD"/>
                </a:solidFill>
              </a:defRPr>
            </a:lvl6pPr>
            <a:lvl7pPr>
              <a:defRPr sz="1800">
                <a:solidFill>
                  <a:srgbClr val="A6A9AD"/>
                </a:solidFill>
              </a:defRPr>
            </a:lvl7pPr>
            <a:lvl8pPr>
              <a:defRPr sz="1800">
                <a:solidFill>
                  <a:srgbClr val="A6A9AD"/>
                </a:solidFill>
              </a:defRPr>
            </a:lvl8pPr>
            <a:lvl9pPr>
              <a:defRPr sz="1800">
                <a:solidFill>
                  <a:srgbClr val="A6A9AD"/>
                </a:solidFill>
              </a:defRPr>
            </a:lvl9pPr>
          </a:lstStyle>
          <a:p xmlns:a="http://schemas.openxmlformats.org/drawingml/2006/main">
            <a:pPr>
              <a:defRPr sz="1800">
                <a:solidFill>
                  <a:srgbClr val="A6A9AD"/>
                </a:solidFill>
              </a:defRPr>
            </a:pPr>
            <a:r>
              <a:rPr sz="1800">
                <a:solidFill>
                  <a:srgbClr val="A6A9AD"/>
                </a:solidFill>
              </a:rPr>
              <a:t>Account data lifecycle and cloud synchronization</a:t>
            </a:r>
          </a:p>
          <a:p xmlns:a="http://schemas.openxmlformats.org/drawingml/2006/main">
            <a:pPr>
              <a:defRPr sz="1800">
                <a:solidFill>
                  <a:srgbClr val="A6A9AD"/>
                </a:solidFill>
              </a:defRPr>
            </a:pPr>
            <a:r>
              <a:rPr sz="1800">
                <a:solidFill>
                  <a:srgbClr val="A6A9AD"/>
                </a:solidFill>
              </a:rPr>
              <a:t>Durable jobs and shared provider cache</a:t>
            </a:r>
          </a:p>
          <a:p xmlns:a="http://schemas.openxmlformats.org/drawingml/2006/main">
            <a:pPr>
              <a:defRPr sz="1800">
                <a:solidFill>
                  <a:srgbClr val="A6A9AD"/>
                </a:solidFill>
              </a:defRPr>
            </a:pPr>
            <a:r>
              <a:rPr sz="1800">
                <a:solidFill>
                  <a:srgbClr val="A6A9AD"/>
                </a:solidFill>
              </a:rPr>
              <a:t>Complete localization and strict typing</a:t>
            </a:r>
          </a:p>
          <a:p xmlns:a="http://schemas.openxmlformats.org/drawingml/2006/main">
            <a:pPr>
              <a:defRPr sz="1800">
                <a:solidFill>
                  <a:srgbClr val="A6A9AD"/>
                </a:solidFill>
              </a:defRPr>
            </a:pPr>
            <a:r>
              <a:rPr sz="1800">
                <a:solidFill>
                  <a:srgbClr val="A6A9AD"/>
                </a:solidFill>
              </a:rPr>
              <a:t>Rendered accessibility and cross-device testing</a:t>
            </a:r>
          </a:p>
          <a:p xmlns:a="http://schemas.openxmlformats.org/drawingml/2006/main">
            <a:pPr>
              <a:defRPr sz="1800">
                <a:solidFill>
                  <a:srgbClr val="A6A9AD"/>
                </a:solidFill>
              </a:defRPr>
            </a:pPr>
            <a:r>
              <a:rPr sz="1800">
                <a:solidFill>
                  <a:srgbClr val="A6A9AD"/>
                </a:solidFill>
              </a:rPr>
              <a:t>Signed production packages and iOS distribution</a:t>
            </a:r>
          </a:p>
        </p:txBody>
      </p:sp>
    </p:spTree>
    <p:extLst>
      <p:ext uri="{BB962C8B-B14F-4D97-AF65-F5344CB8AC3E}">
        <p14:creationId xmlns:p14="http://schemas.microsoft.com/office/powerpoint/2010/main" val="563935399"/>
      </p:ext>
    </p:extLst>
  </p:cSld>
</p:sld>
</file>

<file path=ppt/slides/slide2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8F2E1F26-1B63-48B0-9E7C-96A9DBEB50E4}"/>
              </a:ext>
            </a:extLst>
          </p:cNvPr>
          <p:cNvSpPr>
            <a:spLocks xmlns:a="http://schemas.openxmlformats.org/drawingml/2006/main" noGrp="1"/>
          </p:cNvSpPr>
          <p:nvPr/>
        </p:nvSpPr>
        <p:spPr>
          <a:xfrm xmlns:a="http://schemas.openxmlformats.org/drawingml/2006/main">
            <a:off x="11144250" y="63246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050">
                <a:solidFill>
                  <a:srgbClr val="8A8D91"/>
                </a:solidFill>
              </a:defRPr>
            </a:defPPr>
            <a:lvl1pPr>
              <a:defRPr sz="1050">
                <a:solidFill>
                  <a:srgbClr val="8A8D91"/>
                </a:solidFill>
              </a:defRPr>
            </a:lvl1pPr>
            <a:lvl2pPr>
              <a:defRPr sz="1050">
                <a:solidFill>
                  <a:srgbClr val="8A8D91"/>
                </a:solidFill>
              </a:defRPr>
            </a:lvl2pPr>
            <a:lvl3pPr>
              <a:defRPr sz="1050">
                <a:solidFill>
                  <a:srgbClr val="8A8D91"/>
                </a:solidFill>
              </a:defRPr>
            </a:lvl3pPr>
            <a:lvl4pPr>
              <a:defRPr sz="1050">
                <a:solidFill>
                  <a:srgbClr val="8A8D91"/>
                </a:solidFill>
              </a:defRPr>
            </a:lvl4pPr>
            <a:lvl5pPr>
              <a:defRPr sz="1050">
                <a:solidFill>
                  <a:srgbClr val="8A8D91"/>
                </a:solidFill>
              </a:defRPr>
            </a:lvl5pPr>
            <a:lvl6pPr>
              <a:defRPr sz="1050">
                <a:solidFill>
                  <a:srgbClr val="8A8D91"/>
                </a:solidFill>
              </a:defRPr>
            </a:lvl6pPr>
            <a:lvl7pPr>
              <a:defRPr sz="1050">
                <a:solidFill>
                  <a:srgbClr val="8A8D91"/>
                </a:solidFill>
              </a:defRPr>
            </a:lvl7pPr>
            <a:lvl8pPr>
              <a:defRPr sz="1050">
                <a:solidFill>
                  <a:srgbClr val="8A8D91"/>
                </a:solidFill>
              </a:defRPr>
            </a:lvl8pPr>
            <a:lvl9pPr>
              <a:defRPr sz="1050">
                <a:solidFill>
                  <a:srgbClr val="8A8D91"/>
                </a:solidFill>
              </a:defRPr>
            </a:lvl9pPr>
          </a:lstStyle>
          <a:p xmlns:a="http://schemas.openxmlformats.org/drawingml/2006/main">
            <a:pPr>
              <a:defRPr sz="1050">
                <a:solidFill>
                  <a:srgbClr val="8A8D91"/>
                </a:solidFill>
              </a:defRPr>
            </a:pPr>
            <a:r>
              <a:rPr sz="1050">
                <a:solidFill>
                  <a:srgbClr val="8A8D91"/>
                </a:solidFill>
              </a:rPr>
              <a:t>20</a:t>
            </a:r>
          </a:p>
        </p:txBody>
      </p:sp>
      <p:sp>
        <p:nvSpPr>
          <p:cNvPr id="3" name="title">
            <a:extLst xmlns:a="http://schemas.openxmlformats.org/drawingml/2006/main">
              <a:ext uri="{FF2B5EF4-FFF2-40B4-BE49-F238E27FC236}">
                <a16:creationId xmlns:a16="http://schemas.microsoft.com/office/drawing/2014/main" id="{1316A785-B53B-4226-9A1B-7FAC1F1120BA}"/>
              </a:ext>
            </a:extLst>
          </p:cNvPr>
          <p:cNvSpPr>
            <a:spLocks xmlns:a="http://schemas.openxmlformats.org/drawingml/2006/main" noGrp="1"/>
          </p:cNvSpPr>
          <p:nvPr/>
        </p:nvSpPr>
        <p:spPr>
          <a:xfrm xmlns:a="http://schemas.openxmlformats.org/drawingml/2006/main">
            <a:off x="685800" y="5334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600">
                <a:solidFill>
                  <a:srgbClr val="F2F2F2"/>
                </a:solidFill>
              </a:defRPr>
            </a:defPPr>
            <a:lvl1pPr>
              <a:defRPr sz="3600">
                <a:solidFill>
                  <a:srgbClr val="F2F2F2"/>
                </a:solidFill>
              </a:defRPr>
            </a:lvl1pPr>
            <a:lvl2pPr>
              <a:defRPr sz="3600">
                <a:solidFill>
                  <a:srgbClr val="F2F2F2"/>
                </a:solidFill>
              </a:defRPr>
            </a:lvl2pPr>
            <a:lvl3pPr>
              <a:defRPr sz="3600">
                <a:solidFill>
                  <a:srgbClr val="F2F2F2"/>
                </a:solidFill>
              </a:defRPr>
            </a:lvl3pPr>
            <a:lvl4pPr>
              <a:defRPr sz="3600">
                <a:solidFill>
                  <a:srgbClr val="F2F2F2"/>
                </a:solidFill>
              </a:defRPr>
            </a:lvl4pPr>
            <a:lvl5pPr>
              <a:defRPr sz="3600">
                <a:solidFill>
                  <a:srgbClr val="F2F2F2"/>
                </a:solidFill>
              </a:defRPr>
            </a:lvl5pPr>
            <a:lvl6pPr>
              <a:defRPr sz="3600">
                <a:solidFill>
                  <a:srgbClr val="F2F2F2"/>
                </a:solidFill>
              </a:defRPr>
            </a:lvl6pPr>
            <a:lvl7pPr>
              <a:defRPr sz="3600">
                <a:solidFill>
                  <a:srgbClr val="F2F2F2"/>
                </a:solidFill>
              </a:defRPr>
            </a:lvl7pPr>
            <a:lvl8pPr>
              <a:defRPr sz="3600">
                <a:solidFill>
                  <a:srgbClr val="F2F2F2"/>
                </a:solidFill>
              </a:defRPr>
            </a:lvl8pPr>
            <a:lvl9pPr>
              <a:defRPr sz="3600">
                <a:solidFill>
                  <a:srgbClr val="F2F2F2"/>
                </a:solidFill>
              </a:defRPr>
            </a:lvl9pPr>
          </a:lstStyle>
          <a:p xmlns:a="http://schemas.openxmlformats.org/drawingml/2006/main">
            <a:pPr>
              <a:defRPr sz="3600">
                <a:solidFill>
                  <a:srgbClr val="F2F2F2"/>
                </a:solidFill>
              </a:defRPr>
            </a:pPr>
            <a:r>
              <a:rPr sz="3600">
                <a:solidFill>
                  <a:srgbClr val="F2F2F2"/>
                </a:solidFill>
              </a:rPr>
              <a:t>Project resources</a:t>
            </a:r>
          </a:p>
        </p:txBody>
      </p:sp>
      <p:sp>
        <p:nvSpPr>
          <p:cNvPr id="4" name="subtitle">
            <a:extLst xmlns:a="http://schemas.openxmlformats.org/drawingml/2006/main">
              <a:ext uri="{FF2B5EF4-FFF2-40B4-BE49-F238E27FC236}">
                <a16:creationId xmlns:a16="http://schemas.microsoft.com/office/drawing/2014/main" id="{1ED2A188-1A8C-4A4E-934C-48281AC9EF40}"/>
              </a:ext>
            </a:extLst>
          </p:cNvPr>
          <p:cNvSpPr>
            <a:spLocks xmlns:a="http://schemas.openxmlformats.org/drawingml/2006/main" noGrp="1"/>
          </p:cNvSpPr>
          <p:nvPr/>
        </p:nvSpPr>
        <p:spPr>
          <a:xfrm xmlns:a="http://schemas.openxmlformats.org/drawingml/2006/main">
            <a:off x="685800" y="1504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a:solidFill>
                  <a:srgbClr val="A6A9AD"/>
                </a:solidFill>
              </a:defRPr>
            </a:defPPr>
            <a:lvl1pPr>
              <a:defRPr sz="2025">
                <a:solidFill>
                  <a:srgbClr val="A6A9AD"/>
                </a:solidFill>
              </a:defRPr>
            </a:lvl1pPr>
            <a:lvl2pPr>
              <a:defRPr sz="2025">
                <a:solidFill>
                  <a:srgbClr val="A6A9AD"/>
                </a:solidFill>
              </a:defRPr>
            </a:lvl2pPr>
            <a:lvl3pPr>
              <a:defRPr sz="2025">
                <a:solidFill>
                  <a:srgbClr val="A6A9AD"/>
                </a:solidFill>
              </a:defRPr>
            </a:lvl3pPr>
            <a:lvl4pPr>
              <a:defRPr sz="2025">
                <a:solidFill>
                  <a:srgbClr val="A6A9AD"/>
                </a:solidFill>
              </a:defRPr>
            </a:lvl4pPr>
            <a:lvl5pPr>
              <a:defRPr sz="2025">
                <a:solidFill>
                  <a:srgbClr val="A6A9AD"/>
                </a:solidFill>
              </a:defRPr>
            </a:lvl5pPr>
            <a:lvl6pPr>
              <a:defRPr sz="2025">
                <a:solidFill>
                  <a:srgbClr val="A6A9AD"/>
                </a:solidFill>
              </a:defRPr>
            </a:lvl6pPr>
            <a:lvl7pPr>
              <a:defRPr sz="2025">
                <a:solidFill>
                  <a:srgbClr val="A6A9AD"/>
                </a:solidFill>
              </a:defRPr>
            </a:lvl7pPr>
            <a:lvl8pPr>
              <a:defRPr sz="2025">
                <a:solidFill>
                  <a:srgbClr val="A6A9AD"/>
                </a:solidFill>
              </a:defRPr>
            </a:lvl8pPr>
            <a:lvl9pPr>
              <a:defRPr sz="2025">
                <a:solidFill>
                  <a:srgbClr val="A6A9AD"/>
                </a:solidFill>
              </a:defRPr>
            </a:lvl9pPr>
          </a:lstStyle>
          <a:p xmlns:a="http://schemas.openxmlformats.org/drawingml/2006/main">
            <a:pPr>
              <a:defRPr sz="2025">
                <a:solidFill>
                  <a:srgbClr val="A6A9AD"/>
                </a:solidFill>
              </a:defRPr>
            </a:pPr>
            <a:r>
              <a:rPr sz="2025">
                <a:solidFill>
                  <a:srgbClr val="A6A9AD"/>
                </a:solidFill>
              </a:rPr>
              <a:t>The running app and the source explain the current implementation</a:t>
            </a:r>
          </a:p>
        </p:txBody>
      </p:sp>
      <p:sp>
        <p:nvSpPr>
          <p:cNvPr id="5" name="body">
            <a:extLst xmlns:a="http://schemas.openxmlformats.org/drawingml/2006/main">
              <a:ext uri="{FF2B5EF4-FFF2-40B4-BE49-F238E27FC236}">
                <a16:creationId xmlns:a16="http://schemas.microsoft.com/office/drawing/2014/main" id="{3A4DCD31-73AA-4125-AC9B-C5D4D53AEC6D}"/>
              </a:ext>
            </a:extLst>
          </p:cNvPr>
          <p:cNvSpPr>
            <a:spLocks xmlns:a="http://schemas.openxmlformats.org/drawingml/2006/main" noGrp="1"/>
          </p:cNvSpPr>
          <p:nvPr/>
        </p:nvSpPr>
        <p:spPr>
          <a:xfrm xmlns:a="http://schemas.openxmlformats.org/drawingml/2006/main">
            <a:off x="685800" y="2476500"/>
            <a:ext cx="10572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a:solidFill>
                  <a:srgbClr val="A6A9AD"/>
                </a:solidFill>
              </a:defRPr>
            </a:defPPr>
            <a:lvl1pPr>
              <a:defRPr sz="1725">
                <a:solidFill>
                  <a:srgbClr val="A6A9AD"/>
                </a:solidFill>
              </a:defRPr>
            </a:lvl1pPr>
            <a:lvl2pPr>
              <a:defRPr sz="1725">
                <a:solidFill>
                  <a:srgbClr val="A6A9AD"/>
                </a:solidFill>
              </a:defRPr>
            </a:lvl2pPr>
            <a:lvl3pPr>
              <a:defRPr sz="1725">
                <a:solidFill>
                  <a:srgbClr val="A6A9AD"/>
                </a:solidFill>
              </a:defRPr>
            </a:lvl3pPr>
            <a:lvl4pPr>
              <a:defRPr sz="1725">
                <a:solidFill>
                  <a:srgbClr val="A6A9AD"/>
                </a:solidFill>
              </a:defRPr>
            </a:lvl4pPr>
            <a:lvl5pPr>
              <a:defRPr sz="1725">
                <a:solidFill>
                  <a:srgbClr val="A6A9AD"/>
                </a:solidFill>
              </a:defRPr>
            </a:lvl5pPr>
            <a:lvl6pPr>
              <a:defRPr sz="1725">
                <a:solidFill>
                  <a:srgbClr val="A6A9AD"/>
                </a:solidFill>
              </a:defRPr>
            </a:lvl6pPr>
            <a:lvl7pPr>
              <a:defRPr sz="1725">
                <a:solidFill>
                  <a:srgbClr val="A6A9AD"/>
                </a:solidFill>
              </a:defRPr>
            </a:lvl7pPr>
            <a:lvl8pPr>
              <a:defRPr sz="1725">
                <a:solidFill>
                  <a:srgbClr val="A6A9AD"/>
                </a:solidFill>
              </a:defRPr>
            </a:lvl8pPr>
            <a:lvl9pPr>
              <a:defRPr sz="1725">
                <a:solidFill>
                  <a:srgbClr val="A6A9AD"/>
                </a:solidFill>
              </a:defRPr>
            </a:lvl9pPr>
          </a:lstStyle>
          <a:p xmlns:a="http://schemas.openxmlformats.org/drawingml/2006/main">
            <a:pPr>
              <a:defRPr sz="1725">
                <a:solidFill>
                  <a:srgbClr val="A6A9AD"/>
                </a:solidFill>
              </a:defRPr>
            </a:pPr>
            <a:r>
              <a:rPr sz="1725">
                <a:solidFill>
                  <a:srgbClr val="A6A9AD"/>
                </a:solidFill>
              </a:rPr>
              <a:t>Live application</a:t>
            </a:r>
          </a:p>
          <a:p xmlns:a="http://schemas.openxmlformats.org/drawingml/2006/main">
            <a:pPr>
              <a:defRPr sz="1725">
                <a:solidFill>
                  <a:srgbClr val="A6A9AD"/>
                </a:solidFill>
              </a:defRPr>
            </a:pPr>
            <a:r>
              <a:rPr sz="1725">
                <a:solidFill>
                  <a:srgbClr val="A6A9AD"/>
                </a:solidFill>
              </a:rPr>
              <a:t>https://mathlens-wine.vercel.app</a:t>
            </a:r>
          </a:p>
          <a:p xmlns:a="http://schemas.openxmlformats.org/drawingml/2006/main">
            <a:r>
              <a:t/>
            </a:r>
          </a:p>
          <a:p xmlns:a="http://schemas.openxmlformats.org/drawingml/2006/main">
            <a:pPr>
              <a:defRPr sz="1725">
                <a:solidFill>
                  <a:srgbClr val="A6A9AD"/>
                </a:solidFill>
              </a:defRPr>
            </a:pPr>
            <a:r>
              <a:rPr sz="1725">
                <a:solidFill>
                  <a:srgbClr val="A6A9AD"/>
                </a:solidFill>
              </a:rPr>
              <a:t>Source, build instructions, and release downloads</a:t>
            </a:r>
          </a:p>
          <a:p xmlns:a="http://schemas.openxmlformats.org/drawingml/2006/main">
            <a:pPr>
              <a:defRPr sz="1725">
                <a:solidFill>
                  <a:srgbClr val="A6A9AD"/>
                </a:solidFill>
              </a:defRPr>
            </a:pPr>
            <a:r>
              <a:rPr sz="1725">
                <a:solidFill>
                  <a:srgbClr val="A6A9AD"/>
                </a:solidFill>
              </a:rPr>
              <a:t>github.com/manikantbindass/MathInsightAI-Explainable-Math-AI-Model-Analyzer</a:t>
            </a:r>
          </a:p>
          <a:p xmlns:a="http://schemas.openxmlformats.org/drawingml/2006/main">
            <a:r>
              <a:t/>
            </a:r>
          </a:p>
          <a:p xmlns:a="http://schemas.openxmlformats.org/drawingml/2006/main">
            <a:pPr>
              <a:defRPr sz="1725">
                <a:solidFill>
                  <a:srgbClr val="A6A9AD"/>
                </a:solidFill>
              </a:defRPr>
            </a:pPr>
            <a:r>
              <a:rPr sz="1725">
                <a:solidFill>
                  <a:srgbClr val="A6A9AD"/>
                </a:solidFill>
              </a:rPr>
              <a:t>Core references</a:t>
            </a:r>
          </a:p>
          <a:p xmlns:a="http://schemas.openxmlformats.org/drawingml/2006/main">
            <a:pPr>
              <a:defRPr sz="1725">
                <a:solidFill>
                  <a:srgbClr val="A6A9AD"/>
                </a:solidFill>
              </a:defRPr>
            </a:pPr>
            <a:r>
              <a:rPr sz="1725">
                <a:solidFill>
                  <a:srgbClr val="A6A9AD"/>
                </a:solidFill>
              </a:rPr>
              <a:t>README.md  /  API.md  /  ARCHITECTURE.md</a:t>
            </a:r>
          </a:p>
          <a:p xmlns:a="http://schemas.openxmlformats.org/drawingml/2006/main">
            <a:pPr>
              <a:defRPr sz="1725">
                <a:solidFill>
                  <a:srgbClr val="A6A9AD"/>
                </a:solidFill>
              </a:defRPr>
            </a:pPr>
            <a:r>
              <a:rPr sz="1725">
                <a:solidFill>
                  <a:srgbClr val="A6A9AD"/>
                </a:solidFill>
              </a:rPr>
              <a:t>AUTHENTICATION.md  /  DISTRIBUTION.md  /  REFINEMENT_AUDIT.md</a:t>
            </a:r>
          </a:p>
        </p:txBody>
      </p:sp>
    </p:spTree>
    <p:extLst>
      <p:ext uri="{BB962C8B-B14F-4D97-AF65-F5344CB8AC3E}">
        <p14:creationId xmlns:p14="http://schemas.microsoft.com/office/powerpoint/2010/main" val="16509395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2026-10-27T19:26:46.3030000Z</dcterms:created>
  <dcterms:modified xsi:type="dcterms:W3CDTF">2026-10-27T19:26:46.3030000Z</dcterms:modified>
</coreProperties>
</file>